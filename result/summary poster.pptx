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m" ContentType="application/vnd.ms-excel.sheet.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7432000" cy="43891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snapToGrid="0">
      <p:cViewPr>
        <p:scale>
          <a:sx n="50" d="100"/>
          <a:sy n="50" d="100"/>
        </p:scale>
        <p:origin x="312" y="-30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Macro-Enabled_Worksheet.xlsm"/></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t>Values</a:t>
            </a:r>
          </a:p>
        </c:rich>
      </c:tx>
      <c:overlay val="0"/>
    </c:title>
    <c:autoTitleDeleted val="0"/>
    <c:plotArea>
      <c:layout>
        <c:manualLayout>
          <c:layoutTarget val="inner"/>
          <c:xMode val="edge"/>
          <c:yMode val="edge"/>
          <c:x val="0.22653482108432799"/>
          <c:y val="0.18120462338795801"/>
          <c:w val="0.51592749296523299"/>
          <c:h val="0.63988916312787303"/>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79B1-4A1D-84C2-7FB4EEA65686}"/>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79B1-4A1D-84C2-7FB4EEA65686}"/>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79B1-4A1D-84C2-7FB4EEA65686}"/>
              </c:ext>
            </c:extLst>
          </c:dPt>
          <c:dPt>
            <c:idx val="3"/>
            <c:bubble3D val="0"/>
            <c:spPr>
              <a:solidFill>
                <a:schemeClr val="accent3"/>
              </a:solidFill>
            </c:spPr>
            <c:extLst>
              <c:ext xmlns:c16="http://schemas.microsoft.com/office/drawing/2014/chart" uri="{C3380CC4-5D6E-409C-BE32-E72D297353CC}">
                <c16:uniqueId val="{00000006-71D4-4536-8BC9-4D21C5C6F2C8}"/>
              </c:ext>
            </c:extLst>
          </c:dPt>
          <c:cat>
            <c:strRef>
              <c:f>Sheet1!$A$2:$A$5</c:f>
              <c:strCache>
                <c:ptCount val="4"/>
                <c:pt idx="0">
                  <c:v>Dice Cofficient</c:v>
                </c:pt>
                <c:pt idx="1">
                  <c:v>ioU (Jaccard Index)</c:v>
                </c:pt>
                <c:pt idx="2">
                  <c:v>Sensitivity</c:v>
                </c:pt>
                <c:pt idx="3">
                  <c:v>Specificity</c:v>
                </c:pt>
              </c:strCache>
            </c:strRef>
          </c:cat>
          <c:val>
            <c:numRef>
              <c:f>Sheet1!$B$2:$B$5</c:f>
              <c:numCache>
                <c:formatCode>General</c:formatCode>
                <c:ptCount val="4"/>
                <c:pt idx="0">
                  <c:v>0.84</c:v>
                </c:pt>
                <c:pt idx="1">
                  <c:v>0.8</c:v>
                </c:pt>
                <c:pt idx="2">
                  <c:v>0.88</c:v>
                </c:pt>
                <c:pt idx="3">
                  <c:v>0.99</c:v>
                </c:pt>
              </c:numCache>
            </c:numRef>
          </c:val>
          <c:extLst>
            <c:ext xmlns:c16="http://schemas.microsoft.com/office/drawing/2014/chart" uri="{C3380CC4-5D6E-409C-BE32-E72D297353CC}">
              <c16:uniqueId val="{00000006-79B1-4A1D-84C2-7FB4EEA65686}"/>
            </c:ext>
          </c:extLst>
        </c:ser>
        <c:dLbls>
          <c:showLegendKey val="0"/>
          <c:showVal val="0"/>
          <c:showCatName val="0"/>
          <c:showSerName val="0"/>
          <c:showPercent val="0"/>
          <c:showBubbleSize val="0"/>
          <c:showLeaderLines val="1"/>
        </c:dLbls>
        <c:firstSliceAng val="273"/>
        <c:holeSize val="0"/>
      </c:doughnutChart>
      <c:spPr>
        <a:noFill/>
        <a:ln w="22320">
          <a:noFill/>
        </a:ln>
      </c:spPr>
    </c:plotArea>
    <c:legend>
      <c:legendPos val="r"/>
      <c:legendEntry>
        <c:idx val="0"/>
        <c:txPr>
          <a:bodyPr/>
          <a:lstStyle/>
          <a:p>
            <a:pPr>
              <a:defRPr sz="1400"/>
            </a:pPr>
            <a:endParaRPr lang="en-US"/>
          </a:p>
        </c:txPr>
      </c:legendEntry>
      <c:legendEntry>
        <c:idx val="1"/>
        <c:txPr>
          <a:bodyPr/>
          <a:lstStyle/>
          <a:p>
            <a:pPr>
              <a:defRPr sz="1400"/>
            </a:pPr>
            <a:endParaRPr lang="en-US"/>
          </a:p>
        </c:txPr>
      </c:legendEntry>
      <c:legendEntry>
        <c:idx val="2"/>
        <c:txPr>
          <a:bodyPr/>
          <a:lstStyle/>
          <a:p>
            <a:pPr>
              <a:defRPr sz="1400"/>
            </a:pPr>
            <a:endParaRPr lang="en-US"/>
          </a:p>
        </c:txPr>
      </c:legendEntry>
      <c:legendEntry>
        <c:idx val="3"/>
        <c:txPr>
          <a:bodyPr/>
          <a:lstStyle/>
          <a:p>
            <a:pPr>
              <a:defRPr sz="1400"/>
            </a:pPr>
            <a:endParaRPr lang="en-US"/>
          </a:p>
        </c:txPr>
      </c:legendEntry>
      <c:layout>
        <c:manualLayout>
          <c:xMode val="edge"/>
          <c:yMode val="edge"/>
          <c:x val="0.68442266119687289"/>
          <c:y val="0.10221582072773658"/>
          <c:w val="0.28663645942034582"/>
          <c:h val="0.20188224809678298"/>
        </c:manualLayout>
      </c:layout>
      <c:overlay val="0"/>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0.5108</cdr:x>
      <cdr:y>0.3225</cdr:y>
    </cdr:from>
    <cdr:to>
      <cdr:x>0.62962</cdr:x>
      <cdr:y>0.40981</cdr:y>
    </cdr:to>
    <cdr:sp macro="" textlink="">
      <cdr:nvSpPr>
        <cdr:cNvPr id="2" name="Rectangle 1">
          <a:extLst xmlns:a="http://schemas.openxmlformats.org/drawingml/2006/main">
            <a:ext uri="{FF2B5EF4-FFF2-40B4-BE49-F238E27FC236}">
              <a16:creationId xmlns:a16="http://schemas.microsoft.com/office/drawing/2014/main" id="{78E60DA8-3FFE-4F73-116F-20A78C6228E5}"/>
            </a:ext>
          </a:extLst>
        </cdr:cNvPr>
        <cdr:cNvSpPr/>
      </cdr:nvSpPr>
      <cdr:spPr>
        <a:xfrm xmlns:a="http://schemas.openxmlformats.org/drawingml/2006/main">
          <a:off x="3138134" y="1771779"/>
          <a:ext cx="729948" cy="47968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GB" sz="2000" kern="1200" dirty="0"/>
            <a:t>0.99</a:t>
          </a:r>
        </a:p>
      </cdr:txBody>
    </cdr:sp>
  </cdr:relSizeAnchor>
  <cdr:relSizeAnchor xmlns:cdr="http://schemas.openxmlformats.org/drawingml/2006/chartDrawing">
    <cdr:from>
      <cdr:x>0.33655</cdr:x>
      <cdr:y>0.32437</cdr:y>
    </cdr:from>
    <cdr:to>
      <cdr:x>0.45537</cdr:x>
      <cdr:y>0.41168</cdr:y>
    </cdr:to>
    <cdr:sp macro="" textlink="">
      <cdr:nvSpPr>
        <cdr:cNvPr id="3" name="Rectangle 2">
          <a:extLst xmlns:a="http://schemas.openxmlformats.org/drawingml/2006/main">
            <a:ext uri="{FF2B5EF4-FFF2-40B4-BE49-F238E27FC236}">
              <a16:creationId xmlns:a16="http://schemas.microsoft.com/office/drawing/2014/main" id="{DF15FE7A-AA76-7940-9EB6-178DDD4A6064}"/>
            </a:ext>
          </a:extLst>
        </cdr:cNvPr>
        <cdr:cNvSpPr/>
      </cdr:nvSpPr>
      <cdr:spPr>
        <a:xfrm xmlns:a="http://schemas.openxmlformats.org/drawingml/2006/main">
          <a:off x="2067614" y="1782045"/>
          <a:ext cx="729948" cy="47968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GB" sz="2000" kern="1200" dirty="0"/>
            <a:t>0.84</a:t>
          </a:r>
        </a:p>
      </cdr:txBody>
    </cdr:sp>
  </cdr:relSizeAnchor>
  <cdr:relSizeAnchor xmlns:cdr="http://schemas.openxmlformats.org/drawingml/2006/chartDrawing">
    <cdr:from>
      <cdr:x>0.30476</cdr:x>
      <cdr:y>0.56168</cdr:y>
    </cdr:from>
    <cdr:to>
      <cdr:x>0.42357</cdr:x>
      <cdr:y>0.64899</cdr:y>
    </cdr:to>
    <cdr:sp macro="" textlink="">
      <cdr:nvSpPr>
        <cdr:cNvPr id="4" name="Rectangle 3">
          <a:extLst xmlns:a="http://schemas.openxmlformats.org/drawingml/2006/main">
            <a:ext uri="{FF2B5EF4-FFF2-40B4-BE49-F238E27FC236}">
              <a16:creationId xmlns:a16="http://schemas.microsoft.com/office/drawing/2014/main" id="{83F1D848-6332-DC5E-BC72-C18CEE8513D7}"/>
            </a:ext>
          </a:extLst>
        </cdr:cNvPr>
        <cdr:cNvSpPr/>
      </cdr:nvSpPr>
      <cdr:spPr>
        <a:xfrm xmlns:a="http://schemas.openxmlformats.org/drawingml/2006/main">
          <a:off x="1872299" y="3085788"/>
          <a:ext cx="729948" cy="47968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GB" sz="2000" kern="1200" dirty="0"/>
            <a:t>0.88</a:t>
          </a:r>
        </a:p>
      </cdr:txBody>
    </cdr:sp>
  </cdr:relSizeAnchor>
  <cdr:relSizeAnchor xmlns:cdr="http://schemas.openxmlformats.org/drawingml/2006/chartDrawing">
    <cdr:from>
      <cdr:x>0.53186</cdr:x>
      <cdr:y>0.56168</cdr:y>
    </cdr:from>
    <cdr:to>
      <cdr:x>0.65068</cdr:x>
      <cdr:y>0.64899</cdr:y>
    </cdr:to>
    <cdr:sp macro="" textlink="">
      <cdr:nvSpPr>
        <cdr:cNvPr id="5" name="Rectangle 4">
          <a:extLst xmlns:a="http://schemas.openxmlformats.org/drawingml/2006/main">
            <a:ext uri="{FF2B5EF4-FFF2-40B4-BE49-F238E27FC236}">
              <a16:creationId xmlns:a16="http://schemas.microsoft.com/office/drawing/2014/main" id="{E860DE6D-E402-EE3C-BB3C-5FF480EE13ED}"/>
            </a:ext>
          </a:extLst>
        </cdr:cNvPr>
        <cdr:cNvSpPr/>
      </cdr:nvSpPr>
      <cdr:spPr>
        <a:xfrm xmlns:a="http://schemas.openxmlformats.org/drawingml/2006/main">
          <a:off x="3267520" y="3085788"/>
          <a:ext cx="729948" cy="47968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GB" sz="2000" kern="1200" dirty="0"/>
            <a:t>0.8</a:t>
          </a: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8000"/>
            </a:lvl1pPr>
          </a:lstStyle>
          <a:p>
            <a:r>
              <a:rPr lang="en-US"/>
              <a:t>Click to edit Master title style</a:t>
            </a:r>
            <a:endParaRPr lang="en-US" dirty="0"/>
          </a:p>
        </p:txBody>
      </p:sp>
      <p:sp>
        <p:nvSpPr>
          <p:cNvPr id="3" name="Subtitle 2"/>
          <p:cNvSpPr>
            <a:spLocks noGrp="1"/>
          </p:cNvSpPr>
          <p:nvPr>
            <p:ph type="subTitle" idx="1"/>
          </p:nvPr>
        </p:nvSpPr>
        <p:spPr>
          <a:xfrm>
            <a:off x="3429000" y="23053043"/>
            <a:ext cx="20574000" cy="10596877"/>
          </a:xfrm>
        </p:spPr>
        <p:txBody>
          <a:bodyPr/>
          <a:lstStyle>
            <a:lvl1pPr marL="0" indent="0" algn="ctr">
              <a:buNone/>
              <a:defRPr sz="7200"/>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67466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807115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71664" y="10942333"/>
            <a:ext cx="23660100" cy="18257517"/>
          </a:xfrm>
        </p:spPr>
        <p:txBody>
          <a:bodyPr anchor="b"/>
          <a:lstStyle>
            <a:lvl1pPr>
              <a:defRPr sz="18000"/>
            </a:lvl1pPr>
          </a:lstStyle>
          <a:p>
            <a:r>
              <a:rPr lang="en-US"/>
              <a:t>Click to edit Master title style</a:t>
            </a:r>
            <a:endParaRPr lang="en-US" dirty="0"/>
          </a:p>
        </p:txBody>
      </p:sp>
      <p:sp>
        <p:nvSpPr>
          <p:cNvPr id="3" name="Text Placeholder 2"/>
          <p:cNvSpPr>
            <a:spLocks noGrp="1"/>
          </p:cNvSpPr>
          <p:nvPr>
            <p:ph type="body" idx="1"/>
          </p:nvPr>
        </p:nvSpPr>
        <p:spPr>
          <a:xfrm>
            <a:off x="1871664" y="29372573"/>
            <a:ext cx="23660100" cy="9601197"/>
          </a:xfrm>
        </p:spPr>
        <p:txBody>
          <a:bodyPr/>
          <a:lstStyle>
            <a:lvl1pPr marL="0" indent="0">
              <a:buNone/>
              <a:defRPr sz="7200">
                <a:solidFill>
                  <a:schemeClr val="tx1">
                    <a:tint val="82000"/>
                  </a:schemeClr>
                </a:solidFill>
              </a:defRPr>
            </a:lvl1pPr>
            <a:lvl2pPr marL="1371600" indent="0">
              <a:buNone/>
              <a:defRPr sz="6000">
                <a:solidFill>
                  <a:schemeClr val="tx1">
                    <a:tint val="82000"/>
                  </a:schemeClr>
                </a:solidFill>
              </a:defRPr>
            </a:lvl2pPr>
            <a:lvl3pPr marL="2743200" indent="0">
              <a:buNone/>
              <a:defRPr sz="5400">
                <a:solidFill>
                  <a:schemeClr val="tx1">
                    <a:tint val="82000"/>
                  </a:schemeClr>
                </a:solidFill>
              </a:defRPr>
            </a:lvl3pPr>
            <a:lvl4pPr marL="4114800" indent="0">
              <a:buNone/>
              <a:defRPr sz="4800">
                <a:solidFill>
                  <a:schemeClr val="tx1">
                    <a:tint val="82000"/>
                  </a:schemeClr>
                </a:solidFill>
              </a:defRPr>
            </a:lvl4pPr>
            <a:lvl5pPr marL="5486400" indent="0">
              <a:buNone/>
              <a:defRPr sz="4800">
                <a:solidFill>
                  <a:schemeClr val="tx1">
                    <a:tint val="82000"/>
                  </a:schemeClr>
                </a:solidFill>
              </a:defRPr>
            </a:lvl5pPr>
            <a:lvl6pPr marL="6858000" indent="0">
              <a:buNone/>
              <a:defRPr sz="4800">
                <a:solidFill>
                  <a:schemeClr val="tx1">
                    <a:tint val="82000"/>
                  </a:schemeClr>
                </a:solidFill>
              </a:defRPr>
            </a:lvl6pPr>
            <a:lvl7pPr marL="8229600" indent="0">
              <a:buNone/>
              <a:defRPr sz="4800">
                <a:solidFill>
                  <a:schemeClr val="tx1">
                    <a:tint val="82000"/>
                  </a:schemeClr>
                </a:solidFill>
              </a:defRPr>
            </a:lvl7pPr>
            <a:lvl8pPr marL="9601200" indent="0">
              <a:buNone/>
              <a:defRPr sz="4800">
                <a:solidFill>
                  <a:schemeClr val="tx1">
                    <a:tint val="82000"/>
                  </a:schemeClr>
                </a:solidFill>
              </a:defRPr>
            </a:lvl8pPr>
            <a:lvl9pPr marL="10972800" indent="0">
              <a:buNone/>
              <a:defRPr sz="4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E62287-EE82-4CAC-8118-A3C92F32CD3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124129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8859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3887450" y="11684000"/>
            <a:ext cx="1165860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E62287-EE82-4CAC-8118-A3C92F32CD32}"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88650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336810"/>
            <a:ext cx="2366010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889526" y="10759443"/>
            <a:ext cx="11605020"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4" name="Content Placeholder 3"/>
          <p:cNvSpPr>
            <a:spLocks noGrp="1"/>
          </p:cNvSpPr>
          <p:nvPr>
            <p:ph sz="half" idx="2"/>
          </p:nvPr>
        </p:nvSpPr>
        <p:spPr>
          <a:xfrm>
            <a:off x="1889526" y="16032480"/>
            <a:ext cx="11605020"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3887452" y="10759443"/>
            <a:ext cx="11662173" cy="5273037"/>
          </a:xfrm>
        </p:spPr>
        <p:txBody>
          <a:bodyPr anchor="b"/>
          <a:lstStyle>
            <a:lvl1pPr marL="0" indent="0">
              <a:buNone/>
              <a:defRPr sz="7200" b="1"/>
            </a:lvl1pPr>
            <a:lvl2pPr marL="1371600" indent="0">
              <a:buNone/>
              <a:defRPr sz="6000" b="1"/>
            </a:lvl2pPr>
            <a:lvl3pPr marL="2743200" indent="0">
              <a:buNone/>
              <a:defRPr sz="5400" b="1"/>
            </a:lvl3pPr>
            <a:lvl4pPr marL="4114800" indent="0">
              <a:buNone/>
              <a:defRPr sz="4800" b="1"/>
            </a:lvl4pPr>
            <a:lvl5pPr marL="5486400" indent="0">
              <a:buNone/>
              <a:defRPr sz="4800" b="1"/>
            </a:lvl5pPr>
            <a:lvl6pPr marL="6858000" indent="0">
              <a:buNone/>
              <a:defRPr sz="4800" b="1"/>
            </a:lvl6pPr>
            <a:lvl7pPr marL="8229600" indent="0">
              <a:buNone/>
              <a:defRPr sz="4800" b="1"/>
            </a:lvl7pPr>
            <a:lvl8pPr marL="9601200" indent="0">
              <a:buNone/>
              <a:defRPr sz="4800" b="1"/>
            </a:lvl8pPr>
            <a:lvl9pPr marL="10972800" indent="0">
              <a:buNone/>
              <a:defRPr sz="4800" b="1"/>
            </a:lvl9pPr>
          </a:lstStyle>
          <a:p>
            <a:pPr lvl="0"/>
            <a:r>
              <a:rPr lang="en-US"/>
              <a:t>Click to edit Master text styles</a:t>
            </a:r>
          </a:p>
        </p:txBody>
      </p:sp>
      <p:sp>
        <p:nvSpPr>
          <p:cNvPr id="6" name="Content Placeholder 5"/>
          <p:cNvSpPr>
            <a:spLocks noGrp="1"/>
          </p:cNvSpPr>
          <p:nvPr>
            <p:ph sz="quarter" idx="4"/>
          </p:nvPr>
        </p:nvSpPr>
        <p:spPr>
          <a:xfrm>
            <a:off x="13887452" y="16032480"/>
            <a:ext cx="11662173"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E62287-EE82-4CAC-8118-A3C92F32CD32}"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2343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E62287-EE82-4CAC-8118-A3C92F32CD32}"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91099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62287-EE82-4CAC-8118-A3C92F32CD32}"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266711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Content Placeholder 2"/>
          <p:cNvSpPr>
            <a:spLocks noGrp="1"/>
          </p:cNvSpPr>
          <p:nvPr>
            <p:ph idx="1"/>
          </p:nvPr>
        </p:nvSpPr>
        <p:spPr>
          <a:xfrm>
            <a:off x="11662173" y="6319530"/>
            <a:ext cx="13887450" cy="31191200"/>
          </a:xfrm>
        </p:spPr>
        <p:txBody>
          <a:bodyPr/>
          <a:lstStyle>
            <a:lvl1pPr>
              <a:defRPr sz="9600"/>
            </a:lvl1pPr>
            <a:lvl2pPr>
              <a:defRPr sz="8400"/>
            </a:lvl2pPr>
            <a:lvl3pPr>
              <a:defRPr sz="7200"/>
            </a:lvl3pPr>
            <a:lvl4pPr>
              <a:defRPr sz="6000"/>
            </a:lvl4pPr>
            <a:lvl5pPr>
              <a:defRPr sz="6000"/>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89112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89523" y="2926080"/>
            <a:ext cx="8847534" cy="10241280"/>
          </a:xfrm>
        </p:spPr>
        <p:txBody>
          <a:bodyPr anchor="b"/>
          <a:lstStyle>
            <a:lvl1pPr>
              <a:defRPr sz="9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62173" y="6319530"/>
            <a:ext cx="13887450" cy="31191200"/>
          </a:xfrm>
        </p:spPr>
        <p:txBody>
          <a:bodyPr anchor="t"/>
          <a:lstStyle>
            <a:lvl1pPr marL="0" indent="0">
              <a:buNone/>
              <a:defRPr sz="9600"/>
            </a:lvl1pPr>
            <a:lvl2pPr marL="1371600" indent="0">
              <a:buNone/>
              <a:defRPr sz="8400"/>
            </a:lvl2pPr>
            <a:lvl3pPr marL="2743200" indent="0">
              <a:buNone/>
              <a:defRPr sz="7200"/>
            </a:lvl3pPr>
            <a:lvl4pPr marL="4114800" indent="0">
              <a:buNone/>
              <a:defRPr sz="6000"/>
            </a:lvl4pPr>
            <a:lvl5pPr marL="5486400" indent="0">
              <a:buNone/>
              <a:defRPr sz="6000"/>
            </a:lvl5pPr>
            <a:lvl6pPr marL="6858000" indent="0">
              <a:buNone/>
              <a:defRPr sz="6000"/>
            </a:lvl6pPr>
            <a:lvl7pPr marL="8229600" indent="0">
              <a:buNone/>
              <a:defRPr sz="6000"/>
            </a:lvl7pPr>
            <a:lvl8pPr marL="9601200" indent="0">
              <a:buNone/>
              <a:defRPr sz="6000"/>
            </a:lvl8pPr>
            <a:lvl9pPr marL="10972800" indent="0">
              <a:buNone/>
              <a:defRPr sz="6000"/>
            </a:lvl9pPr>
          </a:lstStyle>
          <a:p>
            <a:r>
              <a:rPr lang="en-US"/>
              <a:t>Click icon to add picture</a:t>
            </a:r>
            <a:endParaRPr lang="en-US" dirty="0"/>
          </a:p>
        </p:txBody>
      </p:sp>
      <p:sp>
        <p:nvSpPr>
          <p:cNvPr id="4" name="Text Placeholder 3"/>
          <p:cNvSpPr>
            <a:spLocks noGrp="1"/>
          </p:cNvSpPr>
          <p:nvPr>
            <p:ph type="body" sz="half" idx="2"/>
          </p:nvPr>
        </p:nvSpPr>
        <p:spPr>
          <a:xfrm>
            <a:off x="1889523" y="13167360"/>
            <a:ext cx="8847534" cy="24394163"/>
          </a:xfrm>
        </p:spPr>
        <p:txBody>
          <a:bodyPr/>
          <a:lstStyle>
            <a:lvl1pPr marL="0" indent="0">
              <a:buNone/>
              <a:defRPr sz="4800"/>
            </a:lvl1pPr>
            <a:lvl2pPr marL="1371600" indent="0">
              <a:buNone/>
              <a:defRPr sz="4200"/>
            </a:lvl2pPr>
            <a:lvl3pPr marL="2743200" indent="0">
              <a:buNone/>
              <a:defRPr sz="3600"/>
            </a:lvl3pPr>
            <a:lvl4pPr marL="4114800" indent="0">
              <a:buNone/>
              <a:defRPr sz="3000"/>
            </a:lvl4pPr>
            <a:lvl5pPr marL="5486400" indent="0">
              <a:buNone/>
              <a:defRPr sz="3000"/>
            </a:lvl5pPr>
            <a:lvl6pPr marL="6858000" indent="0">
              <a:buNone/>
              <a:defRPr sz="3000"/>
            </a:lvl6pPr>
            <a:lvl7pPr marL="8229600" indent="0">
              <a:buNone/>
              <a:defRPr sz="3000"/>
            </a:lvl7pPr>
            <a:lvl8pPr marL="9601200" indent="0">
              <a:buNone/>
              <a:defRPr sz="3000"/>
            </a:lvl8pPr>
            <a:lvl9pPr marL="10972800" indent="0">
              <a:buNone/>
              <a:defRPr sz="3000"/>
            </a:lvl9pPr>
          </a:lstStyle>
          <a:p>
            <a:pPr lvl="0"/>
            <a:r>
              <a:rPr lang="en-US"/>
              <a:t>Click to edit Master text styles</a:t>
            </a:r>
          </a:p>
        </p:txBody>
      </p:sp>
      <p:sp>
        <p:nvSpPr>
          <p:cNvPr id="5" name="Date Placeholder 4"/>
          <p:cNvSpPr>
            <a:spLocks noGrp="1"/>
          </p:cNvSpPr>
          <p:nvPr>
            <p:ph type="dt" sz="half" idx="10"/>
          </p:nvPr>
        </p:nvSpPr>
        <p:spPr/>
        <p:txBody>
          <a:bodyPr/>
          <a:lstStyle/>
          <a:p>
            <a:fld id="{36E62287-EE82-4CAC-8118-A3C92F32CD32}"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78056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60453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631027" y="2336800"/>
            <a:ext cx="5915025"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885952" y="2336800"/>
            <a:ext cx="17402175"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62287-EE82-4CAC-8118-A3C92F32CD3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Tree>
    <p:extLst>
      <p:ext uri="{BB962C8B-B14F-4D97-AF65-F5344CB8AC3E}">
        <p14:creationId xmlns:p14="http://schemas.microsoft.com/office/powerpoint/2010/main" val="3218029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7183123"/>
            <a:ext cx="23317200" cy="15280640"/>
          </a:xfrm>
        </p:spPr>
        <p:txBody>
          <a:bodyPr anchor="b"/>
          <a:lstStyle>
            <a:lvl1pPr algn="ctr">
              <a:defRPr sz="17999"/>
            </a:lvl1pPr>
          </a:lstStyle>
          <a:p>
            <a:r>
              <a:rPr lang="en-US"/>
              <a:t>Click to edit Master title style</a:t>
            </a:r>
            <a:endParaRPr lang="en-US" dirty="0"/>
          </a:p>
        </p:txBody>
      </p:sp>
      <p:sp>
        <p:nvSpPr>
          <p:cNvPr id="3" name="Subtitle 2"/>
          <p:cNvSpPr>
            <a:spLocks noGrp="1"/>
          </p:cNvSpPr>
          <p:nvPr>
            <p:ph type="subTitle" idx="1"/>
          </p:nvPr>
        </p:nvSpPr>
        <p:spPr>
          <a:xfrm>
            <a:off x="3429000" y="23053046"/>
            <a:ext cx="20574000" cy="10596877"/>
          </a:xfrm>
        </p:spPr>
        <p:txBody>
          <a:bodyPr/>
          <a:lstStyle>
            <a:lvl1pPr marL="0" indent="0" algn="ctr">
              <a:buNone/>
              <a:defRPr sz="7200"/>
            </a:lvl1pPr>
            <a:lvl2pPr marL="1371545" indent="0" algn="ctr">
              <a:buNone/>
              <a:defRPr sz="6000"/>
            </a:lvl2pPr>
            <a:lvl3pPr marL="2743090" indent="0" algn="ctr">
              <a:buNone/>
              <a:defRPr sz="5400"/>
            </a:lvl3pPr>
            <a:lvl4pPr marL="4114635" indent="0" algn="ctr">
              <a:buNone/>
              <a:defRPr sz="4800"/>
            </a:lvl4pPr>
            <a:lvl5pPr marL="5486181" indent="0" algn="ctr">
              <a:buNone/>
              <a:defRPr sz="4800"/>
            </a:lvl5pPr>
            <a:lvl6pPr marL="6857726" indent="0" algn="ctr">
              <a:buNone/>
              <a:defRPr sz="4800"/>
            </a:lvl6pPr>
            <a:lvl7pPr marL="8229271" indent="0" algn="ctr">
              <a:buNone/>
              <a:defRPr sz="4800"/>
            </a:lvl7pPr>
            <a:lvl8pPr marL="9600816" indent="0" algn="ctr">
              <a:buNone/>
              <a:defRPr sz="4800"/>
            </a:lvl8pPr>
            <a:lvl9pPr marL="10972361" indent="0" algn="ctr">
              <a:buNone/>
              <a:defRPr sz="4800"/>
            </a:lvl9pPr>
          </a:lstStyle>
          <a:p>
            <a:r>
              <a:rPr lang="en-US" dirty="0"/>
              <a:t>Click to edit Master subtitle style</a:t>
            </a:r>
          </a:p>
        </p:txBody>
      </p:sp>
      <p:sp>
        <p:nvSpPr>
          <p:cNvPr id="4" name="Date Placeholder 3"/>
          <p:cNvSpPr>
            <a:spLocks noGrp="1"/>
          </p:cNvSpPr>
          <p:nvPr>
            <p:ph type="dt" sz="half" idx="10"/>
          </p:nvPr>
        </p:nvSpPr>
        <p:spPr/>
        <p:txBody>
          <a:bodyPr/>
          <a:lstStyle/>
          <a:p>
            <a:fld id="{36E62287-EE82-4CAC-8118-A3C92F32CD32}"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8B3A4A-BAB8-48FE-8D64-764B793361B2}" type="slidenum">
              <a:rPr lang="en-US" smtClean="0"/>
              <a:t>‹#›</a:t>
            </a:fld>
            <a:endParaRPr lang="en-US"/>
          </a:p>
        </p:txBody>
      </p:sp>
      <p:sp>
        <p:nvSpPr>
          <p:cNvPr id="10" name="Picture Placeholder 9">
            <a:extLst>
              <a:ext uri="{FF2B5EF4-FFF2-40B4-BE49-F238E27FC236}">
                <a16:creationId xmlns:a16="http://schemas.microsoft.com/office/drawing/2014/main" id="{E8BB8BF0-1B62-88D2-2AA9-9DD641B32A05}"/>
              </a:ext>
            </a:extLst>
          </p:cNvPr>
          <p:cNvSpPr>
            <a:spLocks noGrp="1"/>
          </p:cNvSpPr>
          <p:nvPr>
            <p:ph type="pic" sz="quarter" idx="13"/>
          </p:nvPr>
        </p:nvSpPr>
        <p:spPr>
          <a:xfrm>
            <a:off x="2641336" y="20495188"/>
            <a:ext cx="3657864" cy="4526437"/>
          </a:xfrm>
        </p:spPr>
        <p:txBody>
          <a:bodyPr/>
          <a:lstStyle/>
          <a:p>
            <a:endParaRPr lang="en-US" dirty="0"/>
          </a:p>
        </p:txBody>
      </p:sp>
    </p:spTree>
    <p:extLst>
      <p:ext uri="{BB962C8B-B14F-4D97-AF65-F5344CB8AC3E}">
        <p14:creationId xmlns:p14="http://schemas.microsoft.com/office/powerpoint/2010/main" val="144686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85950" y="2336810"/>
            <a:ext cx="2366010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885950" y="11684000"/>
            <a:ext cx="2366010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885950" y="40680650"/>
            <a:ext cx="6172200" cy="2336800"/>
          </a:xfrm>
          <a:prstGeom prst="rect">
            <a:avLst/>
          </a:prstGeom>
        </p:spPr>
        <p:txBody>
          <a:bodyPr vert="horz" lIns="91440" tIns="45720" rIns="91440" bIns="45720" rtlCol="0" anchor="ctr"/>
          <a:lstStyle>
            <a:lvl1pPr algn="l">
              <a:defRPr sz="3600">
                <a:solidFill>
                  <a:schemeClr val="tx1">
                    <a:tint val="82000"/>
                  </a:schemeClr>
                </a:solidFill>
              </a:defRPr>
            </a:lvl1pPr>
          </a:lstStyle>
          <a:p>
            <a:fld id="{36E62287-EE82-4CAC-8118-A3C92F32CD32}" type="datetimeFigureOut">
              <a:rPr lang="en-US" smtClean="0"/>
              <a:t>10/13/2025</a:t>
            </a:fld>
            <a:endParaRPr lang="en-US"/>
          </a:p>
        </p:txBody>
      </p:sp>
      <p:sp>
        <p:nvSpPr>
          <p:cNvPr id="5" name="Footer Placeholder 4"/>
          <p:cNvSpPr>
            <a:spLocks noGrp="1"/>
          </p:cNvSpPr>
          <p:nvPr>
            <p:ph type="ftr" sz="quarter" idx="3"/>
          </p:nvPr>
        </p:nvSpPr>
        <p:spPr>
          <a:xfrm>
            <a:off x="9086850" y="40680650"/>
            <a:ext cx="9258300" cy="2336800"/>
          </a:xfrm>
          <a:prstGeom prst="rect">
            <a:avLst/>
          </a:prstGeom>
        </p:spPr>
        <p:txBody>
          <a:bodyPr vert="horz" lIns="91440" tIns="45720" rIns="91440" bIns="45720" rtlCol="0" anchor="ctr"/>
          <a:lstStyle>
            <a:lvl1pPr algn="ctr">
              <a:defRPr sz="3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9373850" y="40680650"/>
            <a:ext cx="6172200" cy="2336800"/>
          </a:xfrm>
          <a:prstGeom prst="rect">
            <a:avLst/>
          </a:prstGeom>
        </p:spPr>
        <p:txBody>
          <a:bodyPr vert="horz" lIns="91440" tIns="45720" rIns="91440" bIns="45720" rtlCol="0" anchor="ctr"/>
          <a:lstStyle>
            <a:lvl1pPr algn="r">
              <a:defRPr sz="3600">
                <a:solidFill>
                  <a:schemeClr val="tx1">
                    <a:tint val="82000"/>
                  </a:schemeClr>
                </a:solidFill>
              </a:defRPr>
            </a:lvl1pPr>
          </a:lstStyle>
          <a:p>
            <a:fld id="{958B3A4A-BAB8-48FE-8D64-764B793361B2}" type="slidenum">
              <a:rPr lang="en-US" smtClean="0"/>
              <a:t>‹#›</a:t>
            </a:fld>
            <a:endParaRPr lang="en-US"/>
          </a:p>
        </p:txBody>
      </p:sp>
    </p:spTree>
    <p:extLst>
      <p:ext uri="{BB962C8B-B14F-4D97-AF65-F5344CB8AC3E}">
        <p14:creationId xmlns:p14="http://schemas.microsoft.com/office/powerpoint/2010/main" val="12547876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3.jpg"/><Relationship Id="rId5" Type="http://schemas.openxmlformats.org/officeDocument/2006/relationships/image" Target="../media/image2.jpg"/><Relationship Id="rId4" Type="http://schemas.openxmlformats.org/officeDocument/2006/relationships/hyperlink" Target="http://www.chalmers.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AD58C19-3F11-8F0C-3135-48E3F9B72BD5}"/>
              </a:ext>
            </a:extLst>
          </p:cNvPr>
          <p:cNvSpPr>
            <a:spLocks noGrp="1" noRot="1" noMove="1" noResize="1" noEditPoints="1" noAdjustHandles="1" noChangeArrowheads="1" noChangeShapeType="1"/>
          </p:cNvSpPr>
          <p:nvPr/>
        </p:nvSpPr>
        <p:spPr>
          <a:xfrm>
            <a:off x="0" y="0"/>
            <a:ext cx="27432000" cy="3425825"/>
          </a:xfrm>
          <a:prstGeom prst="rect">
            <a:avLst/>
          </a:prstGeom>
          <a:solidFill>
            <a:schemeClr val="tx2">
              <a:lumMod val="75000"/>
              <a:lumOff val="2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52BCD7D-3B81-005A-DD36-8B00EB4A180F}"/>
              </a:ext>
            </a:extLst>
          </p:cNvPr>
          <p:cNvSpPr txBox="1">
            <a:spLocks/>
          </p:cNvSpPr>
          <p:nvPr/>
        </p:nvSpPr>
        <p:spPr>
          <a:xfrm>
            <a:off x="957742" y="776114"/>
            <a:ext cx="19616258" cy="810350"/>
          </a:xfrm>
          <a:prstGeom prst="rect">
            <a:avLst/>
          </a:prstGeom>
          <a:noFill/>
        </p:spPr>
        <p:txBody>
          <a:bodyPr wrap="square">
            <a:spAutoFit/>
          </a:bodyPr>
          <a:lstStyle/>
          <a:p>
            <a:r>
              <a:rPr lang="en-GB" sz="4666" dirty="0">
                <a:solidFill>
                  <a:schemeClr val="bg2"/>
                </a:solidFill>
                <a:latin typeface="Arial" panose="020B0604020202020204" pitchFamily="34" charset="0"/>
                <a:ea typeface="Cambria" panose="02040503050406030204" pitchFamily="18" charset="0"/>
                <a:cs typeface="Arial" panose="020B0604020202020204" pitchFamily="34" charset="0"/>
              </a:rPr>
              <a:t>Liver </a:t>
            </a:r>
            <a:r>
              <a:rPr lang="en-GB" sz="4666" dirty="0" err="1">
                <a:solidFill>
                  <a:schemeClr val="bg2"/>
                </a:solidFill>
                <a:latin typeface="Arial" panose="020B0604020202020204" pitchFamily="34" charset="0"/>
                <a:ea typeface="Cambria" panose="02040503050406030204" pitchFamily="18" charset="0"/>
                <a:cs typeface="Arial" panose="020B0604020202020204" pitchFamily="34" charset="0"/>
              </a:rPr>
              <a:t>Tumor</a:t>
            </a:r>
            <a:r>
              <a:rPr lang="en-GB" sz="4666" dirty="0">
                <a:solidFill>
                  <a:schemeClr val="bg2"/>
                </a:solidFill>
                <a:latin typeface="Arial" panose="020B0604020202020204" pitchFamily="34" charset="0"/>
                <a:ea typeface="Cambria" panose="02040503050406030204" pitchFamily="18" charset="0"/>
                <a:cs typeface="Arial" panose="020B0604020202020204" pitchFamily="34" charset="0"/>
              </a:rPr>
              <a:t> Segmentation Using Attention U-Net</a:t>
            </a:r>
            <a:endParaRPr lang="en-US" sz="4666" dirty="0">
              <a:solidFill>
                <a:schemeClr val="bg2"/>
              </a:solidFill>
              <a:latin typeface="Arial" panose="020B0604020202020204" pitchFamily="34" charset="0"/>
              <a:ea typeface="Cambria" panose="02040503050406030204" pitchFamily="18" charset="0"/>
              <a:cs typeface="Arial" panose="020B0604020202020204" pitchFamily="34" charset="0"/>
            </a:endParaRPr>
          </a:p>
        </p:txBody>
      </p:sp>
      <p:sp>
        <p:nvSpPr>
          <p:cNvPr id="14" name="TextBox 13">
            <a:extLst>
              <a:ext uri="{FF2B5EF4-FFF2-40B4-BE49-F238E27FC236}">
                <a16:creationId xmlns:a16="http://schemas.microsoft.com/office/drawing/2014/main" id="{BED68CFF-0D43-E6ED-92A9-0D197402D8AD}"/>
              </a:ext>
            </a:extLst>
          </p:cNvPr>
          <p:cNvSpPr txBox="1">
            <a:spLocks/>
          </p:cNvSpPr>
          <p:nvPr/>
        </p:nvSpPr>
        <p:spPr>
          <a:xfrm>
            <a:off x="895350" y="1721568"/>
            <a:ext cx="21221700" cy="461665"/>
          </a:xfrm>
          <a:prstGeom prst="rect">
            <a:avLst/>
          </a:prstGeom>
          <a:noFill/>
        </p:spPr>
        <p:txBody>
          <a:bodyPr wrap="square">
            <a:spAutoFit/>
          </a:bodyPr>
          <a:lstStyle/>
          <a:p>
            <a:pPr>
              <a:spcBef>
                <a:spcPts val="1500"/>
              </a:spcBef>
              <a:defRPr/>
            </a:pPr>
            <a:r>
              <a:rPr lang="en-US" altLang="en-US" sz="2400" dirty="0" err="1">
                <a:solidFill>
                  <a:schemeClr val="bg1"/>
                </a:solidFill>
                <a:latin typeface="Arial" panose="020B0604020202020204" pitchFamily="34" charset="0"/>
                <a:ea typeface="Cambria" panose="02040503050406030204" pitchFamily="18" charset="0"/>
                <a:cs typeface="Arial" panose="020B0604020202020204" pitchFamily="34" charset="0"/>
              </a:rPr>
              <a:t>Hasnatur</a:t>
            </a:r>
            <a:r>
              <a:rPr lang="en-US" altLang="en-US" sz="2400" dirty="0">
                <a:solidFill>
                  <a:schemeClr val="bg1"/>
                </a:solidFill>
                <a:latin typeface="Arial" panose="020B0604020202020204" pitchFamily="34" charset="0"/>
                <a:ea typeface="Cambria" panose="02040503050406030204" pitchFamily="18" charset="0"/>
                <a:cs typeface="Arial" panose="020B0604020202020204" pitchFamily="34" charset="0"/>
              </a:rPr>
              <a:t> Rahman Khan (21-45355-2), Pritom Chowhan(21-45356-2), Kazi Al </a:t>
            </a:r>
            <a:r>
              <a:rPr lang="en-US" altLang="en-US" sz="2400" dirty="0" err="1">
                <a:solidFill>
                  <a:schemeClr val="bg1"/>
                </a:solidFill>
                <a:latin typeface="Arial" panose="020B0604020202020204" pitchFamily="34" charset="0"/>
                <a:ea typeface="Cambria" panose="02040503050406030204" pitchFamily="18" charset="0"/>
                <a:cs typeface="Arial" panose="020B0604020202020204" pitchFamily="34" charset="0"/>
              </a:rPr>
              <a:t>Kabid</a:t>
            </a:r>
            <a:r>
              <a:rPr lang="en-US" altLang="en-US" sz="2400" dirty="0">
                <a:solidFill>
                  <a:schemeClr val="bg1"/>
                </a:solidFill>
                <a:latin typeface="Arial" panose="020B0604020202020204" pitchFamily="34" charset="0"/>
                <a:ea typeface="Cambria" panose="02040503050406030204" pitchFamily="18" charset="0"/>
                <a:cs typeface="Arial" panose="020B0604020202020204" pitchFamily="34" charset="0"/>
              </a:rPr>
              <a:t>(21-45365-2), Farid Uz Zaman(21-45361-2)</a:t>
            </a:r>
          </a:p>
        </p:txBody>
      </p:sp>
      <p:sp>
        <p:nvSpPr>
          <p:cNvPr id="15" name="Rectangle 14">
            <a:extLst>
              <a:ext uri="{FF2B5EF4-FFF2-40B4-BE49-F238E27FC236}">
                <a16:creationId xmlns:a16="http://schemas.microsoft.com/office/drawing/2014/main" id="{D5728DCB-21B5-9CA7-DFC9-C2644A953AC2}"/>
              </a:ext>
            </a:extLst>
          </p:cNvPr>
          <p:cNvSpPr>
            <a:spLocks noGrp="1" noRot="1" noMove="1" noResize="1" noEditPoints="1" noAdjustHandles="1" noChangeArrowheads="1" noChangeShapeType="1"/>
          </p:cNvSpPr>
          <p:nvPr/>
        </p:nvSpPr>
        <p:spPr>
          <a:xfrm>
            <a:off x="-1" y="42214005"/>
            <a:ext cx="27431999" cy="1677195"/>
          </a:xfrm>
          <a:prstGeom prst="rect">
            <a:avLst/>
          </a:prstGeom>
          <a:solidFill>
            <a:schemeClr val="tx2">
              <a:lumMod val="75000"/>
              <a:lumOff val="2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8169C2A6-9564-09BF-3989-9D297CD227B5}"/>
              </a:ext>
            </a:extLst>
          </p:cNvPr>
          <p:cNvSpPr>
            <a:spLocks noGrp="1" noRot="1" noMove="1" noResize="1" noEditPoints="1" noAdjustHandles="1" noChangeArrowheads="1" noChangeShapeType="1"/>
          </p:cNvSpPr>
          <p:nvPr/>
        </p:nvSpPr>
        <p:spPr>
          <a:xfrm>
            <a:off x="18040724" y="42544923"/>
            <a:ext cx="9272571" cy="1103498"/>
          </a:xfrm>
          <a:prstGeom prst="rect">
            <a:avLst/>
          </a:prstGeom>
        </p:spPr>
        <p:txBody>
          <a:bodyPr wrap="square">
            <a:noAutofit/>
          </a:bodyPr>
          <a:lstStyle/>
          <a:p>
            <a:pPr>
              <a:spcAft>
                <a:spcPts val="667"/>
              </a:spcAft>
              <a:defRPr/>
            </a:pPr>
            <a:r>
              <a:rPr lang="en-US" altLang="en-US" sz="2333" dirty="0">
                <a:solidFill>
                  <a:schemeClr val="bg1"/>
                </a:solidFill>
                <a:latin typeface="Arial" panose="020B0604020202020204" pitchFamily="34" charset="0"/>
                <a:ea typeface="Cambria" panose="02040503050406030204" pitchFamily="18" charset="0"/>
                <a:cs typeface="Arial" panose="020B0604020202020204" pitchFamily="34" charset="0"/>
              </a:rPr>
              <a:t>Department of Computer Science, Faculty of Science and Technology.</a:t>
            </a:r>
          </a:p>
          <a:p>
            <a:pPr>
              <a:spcAft>
                <a:spcPts val="667"/>
              </a:spcAft>
              <a:defRPr/>
            </a:pPr>
            <a:r>
              <a:rPr lang="en-US" sz="2333" b="1" dirty="0">
                <a:solidFill>
                  <a:schemeClr val="bg1"/>
                </a:solidFill>
                <a:latin typeface="Arial" panose="020B0604020202020204" pitchFamily="34" charset="0"/>
                <a:ea typeface="Cambria" panose="02040503050406030204" pitchFamily="18" charset="0"/>
                <a:cs typeface="Arial" panose="020B0604020202020204" pitchFamily="34" charset="0"/>
              </a:rPr>
              <a:t>American International University-Bangladesh (AIUB)</a:t>
            </a:r>
            <a:endParaRPr lang="en-US" sz="2833" b="1"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a:spcAft>
                <a:spcPts val="67"/>
              </a:spcAft>
              <a:defRPr/>
            </a:pPr>
            <a:endParaRPr lang="en-US" altLang="en-US" sz="2333" dirty="0">
              <a:solidFill>
                <a:schemeClr val="bg1"/>
              </a:solidFill>
              <a:latin typeface="Arial" panose="020B0604020202020204" pitchFamily="34" charset="0"/>
              <a:ea typeface="Cambria" panose="02040503050406030204" pitchFamily="18" charset="0"/>
              <a:cs typeface="Arial" panose="020B0604020202020204" pitchFamily="34" charset="0"/>
            </a:endParaRPr>
          </a:p>
        </p:txBody>
      </p:sp>
      <p:pic>
        <p:nvPicPr>
          <p:cNvPr id="1026" name="Picture 2">
            <a:extLst>
              <a:ext uri="{FF2B5EF4-FFF2-40B4-BE49-F238E27FC236}">
                <a16:creationId xmlns:a16="http://schemas.microsoft.com/office/drawing/2014/main" id="{483903A7-9AB1-3F93-9E69-2D1474DD548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678443" y="322262"/>
            <a:ext cx="2781300" cy="2781300"/>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3">
            <a:extLst>
              <a:ext uri="{FF2B5EF4-FFF2-40B4-BE49-F238E27FC236}">
                <a16:creationId xmlns:a16="http://schemas.microsoft.com/office/drawing/2014/main" id="{BF5512A1-67FF-5B6E-9559-157557AC0CCC}"/>
              </a:ext>
            </a:extLst>
          </p:cNvPr>
          <p:cNvSpPr txBox="1">
            <a:spLocks noGrp="1" noRot="1" noMove="1" noResize="1" noEditPoints="1" noAdjustHandles="1" noChangeArrowheads="1" noChangeShapeType="1"/>
          </p:cNvSpPr>
          <p:nvPr/>
        </p:nvSpPr>
        <p:spPr bwMode="auto">
          <a:xfrm>
            <a:off x="957742" y="4128502"/>
            <a:ext cx="8191500" cy="5753626"/>
          </a:xfrm>
          <a:prstGeom prst="rect">
            <a:avLst/>
          </a:prstGeom>
          <a:solidFill>
            <a:schemeClr val="bg1">
              <a:alpha val="63000"/>
            </a:schemeClr>
          </a:solidFill>
          <a:ln>
            <a:noFill/>
          </a:ln>
          <a:effec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gn="just">
              <a:spcAft>
                <a:spcPts val="1000"/>
              </a:spcAft>
            </a:pPr>
            <a:r>
              <a:rPr lang="en-US" sz="4000" b="1" dirty="0">
                <a:solidFill>
                  <a:srgbClr val="005BBB"/>
                </a:solidFill>
                <a:latin typeface="Arial" panose="020B0604020202020204" pitchFamily="34" charset="0"/>
                <a:cs typeface="Arial" panose="020B0604020202020204" pitchFamily="34" charset="0"/>
              </a:rPr>
              <a:t>Introduction</a:t>
            </a:r>
          </a:p>
          <a:p>
            <a:pPr algn="just">
              <a:lnSpc>
                <a:spcPct val="150000"/>
              </a:lnSpc>
            </a:pPr>
            <a:r>
              <a:rPr lang="en-GB" altLang="en-US" sz="2400" dirty="0">
                <a:latin typeface="Arial" panose="020B0604020202020204" pitchFamily="34" charset="0"/>
                <a:ea typeface="Arial" charset="0"/>
                <a:cs typeface="Arial" panose="020B0604020202020204" pitchFamily="34" charset="0"/>
              </a:rPr>
              <a:t>Liver cancer, especially hepatocellular carcinoma, needs accurate CT-based hepatic segmentation and lesion segmentation for real-time tumour monitoring, cancer staging, tumour planning and prognosis evaluation. Manual annotation is time consuming and operator-dependent and suffers from small, low-contrast tumours and image phase heterogeneity. presented here is a fast and reliable deep learning method for clinically consistent liver and lesion delineation</a:t>
            </a:r>
            <a:endParaRPr lang="en-US" altLang="en-US" sz="2400" dirty="0">
              <a:latin typeface="Arial" panose="020B0604020202020204" pitchFamily="34" charset="0"/>
              <a:ea typeface="Arial" charset="0"/>
              <a:cs typeface="Arial" panose="020B0604020202020204" pitchFamily="34" charset="0"/>
            </a:endParaRPr>
          </a:p>
        </p:txBody>
      </p:sp>
      <p:cxnSp>
        <p:nvCxnSpPr>
          <p:cNvPr id="46" name="Straight Connector 45">
            <a:extLst>
              <a:ext uri="{FF2B5EF4-FFF2-40B4-BE49-F238E27FC236}">
                <a16:creationId xmlns:a16="http://schemas.microsoft.com/office/drawing/2014/main" id="{169E7B9A-91F1-E077-42D9-51C400781E9D}"/>
              </a:ext>
            </a:extLst>
          </p:cNvPr>
          <p:cNvCxnSpPr/>
          <p:nvPr/>
        </p:nvCxnSpPr>
        <p:spPr bwMode="auto">
          <a:xfrm>
            <a:off x="1057938" y="9900827"/>
            <a:ext cx="7991107" cy="0"/>
          </a:xfrm>
          <a:prstGeom prst="line">
            <a:avLst/>
          </a:prstGeom>
          <a:noFill/>
          <a:ln w="25400" cap="flat" cmpd="sng" algn="ctr">
            <a:solidFill>
              <a:schemeClr val="tx1"/>
            </a:solidFill>
            <a:prstDash val="dash"/>
            <a:round/>
            <a:headEnd type="none" w="med" len="med"/>
            <a:tailEnd type="none" w="med" len="med"/>
          </a:ln>
          <a:effectLst/>
        </p:spPr>
      </p:cxnSp>
      <p:sp>
        <p:nvSpPr>
          <p:cNvPr id="47" name="TextBox 46">
            <a:extLst>
              <a:ext uri="{FF2B5EF4-FFF2-40B4-BE49-F238E27FC236}">
                <a16:creationId xmlns:a16="http://schemas.microsoft.com/office/drawing/2014/main" id="{EC13C292-6D19-B141-05A3-5704DC93016B}"/>
              </a:ext>
            </a:extLst>
          </p:cNvPr>
          <p:cNvSpPr txBox="1">
            <a:spLocks/>
          </p:cNvSpPr>
          <p:nvPr/>
        </p:nvSpPr>
        <p:spPr>
          <a:xfrm>
            <a:off x="895351" y="10448210"/>
            <a:ext cx="8191500" cy="7723396"/>
          </a:xfrm>
          <a:prstGeom prst="rect">
            <a:avLst/>
          </a:prstGeom>
          <a:solidFill>
            <a:schemeClr val="bg1">
              <a:alpha val="63000"/>
            </a:schemeClr>
          </a:solidFill>
          <a:effectLst/>
        </p:spPr>
        <p:txBody>
          <a:bodyPr>
            <a:spAutoFit/>
          </a:bodyPr>
          <a:lstStyle/>
          <a:p>
            <a:pPr algn="just">
              <a:lnSpc>
                <a:spcPct val="150000"/>
              </a:lnSpc>
              <a:spcAft>
                <a:spcPts val="1000"/>
              </a:spcAft>
              <a:defRPr/>
            </a:pPr>
            <a:r>
              <a:rPr lang="en-US" sz="4000" b="1" dirty="0">
                <a:solidFill>
                  <a:srgbClr val="005BBB"/>
                </a:solidFill>
                <a:latin typeface="Arial" panose="020B0604020202020204" pitchFamily="34" charset="0"/>
                <a:cs typeface="Arial" panose="020B0604020202020204" pitchFamily="34" charset="0"/>
              </a:rPr>
              <a:t>Methods</a:t>
            </a:r>
          </a:p>
          <a:p>
            <a:pPr algn="just">
              <a:lnSpc>
                <a:spcPct val="150000"/>
              </a:lnSpc>
              <a:spcAft>
                <a:spcPts val="833"/>
              </a:spcAft>
              <a:defRPr/>
            </a:pPr>
            <a:r>
              <a:rPr lang="en-GB" sz="2400" dirty="0">
                <a:latin typeface="Arial" panose="020B0604020202020204" pitchFamily="34" charset="0"/>
                <a:ea typeface="Arial" charset="0"/>
                <a:cs typeface="Arial" panose="020B0604020202020204" pitchFamily="34" charset="0"/>
              </a:rPr>
              <a:t>We used LiTS17 dataset, and we applied two-stage pipeline: first, segment liver, then segment lesions inside the ROI (liver). Fourth generation arbitrary composite CTs were sampled to 1x1x1 mm, windowed to a liver-appropriate HU, normalised and re-sampled to 64x64x64 before being sliced into 2D axial slices. The baseline model is Attention U-Net trained using </a:t>
            </a:r>
            <a:r>
              <a:rPr lang="en-GB" sz="2400" dirty="0" err="1">
                <a:latin typeface="Arial" panose="020B0604020202020204" pitchFamily="34" charset="0"/>
                <a:ea typeface="Arial" charset="0"/>
                <a:cs typeface="Arial" panose="020B0604020202020204" pitchFamily="34" charset="0"/>
              </a:rPr>
              <a:t>ComboLoss</a:t>
            </a:r>
            <a:r>
              <a:rPr lang="en-GB" sz="2400" dirty="0">
                <a:latin typeface="Arial" panose="020B0604020202020204" pitchFamily="34" charset="0"/>
                <a:ea typeface="Arial" charset="0"/>
                <a:cs typeface="Arial" panose="020B0604020202020204" pitchFamily="34" charset="0"/>
              </a:rPr>
              <a:t> (0.7 BCE + 0.3 Dice), Adam (</a:t>
            </a:r>
            <a:r>
              <a:rPr lang="en-GB" sz="2400" dirty="0" err="1">
                <a:latin typeface="Arial" panose="020B0604020202020204" pitchFamily="34" charset="0"/>
                <a:ea typeface="Arial" charset="0"/>
                <a:cs typeface="Arial" panose="020B0604020202020204" pitchFamily="34" charset="0"/>
              </a:rPr>
              <a:t>lr</a:t>
            </a:r>
            <a:r>
              <a:rPr lang="en-GB" sz="2400" dirty="0">
                <a:latin typeface="Arial" panose="020B0604020202020204" pitchFamily="34" charset="0"/>
                <a:ea typeface="Arial" charset="0"/>
                <a:cs typeface="Arial" panose="020B0604020202020204" pitchFamily="34" charset="0"/>
              </a:rPr>
              <a:t> = 1e-4), 80/20 (89/22 volumes) train / validation split with early stopping and </a:t>
            </a:r>
            <a:r>
              <a:rPr lang="en-GB" sz="2400" dirty="0" err="1">
                <a:latin typeface="Arial" panose="020B0604020202020204" pitchFamily="34" charset="0"/>
                <a:ea typeface="Arial" charset="0"/>
                <a:cs typeface="Arial" panose="020B0604020202020204" pitchFamily="34" charset="0"/>
              </a:rPr>
              <a:t>ReduceLROnPlateau</a:t>
            </a:r>
            <a:r>
              <a:rPr lang="en-GB" sz="2400" dirty="0">
                <a:latin typeface="Arial" panose="020B0604020202020204" pitchFamily="34" charset="0"/>
                <a:ea typeface="Arial" charset="0"/>
                <a:cs typeface="Arial" panose="020B0604020202020204" pitchFamily="34" charset="0"/>
              </a:rPr>
              <a:t> schedule. Typical augmentations (flips and rotations) as well as elastic (grid) distortion were used for robustness.</a:t>
            </a:r>
            <a:endParaRPr lang="en-US" sz="2400" dirty="0">
              <a:latin typeface="Arial" panose="020B0604020202020204" pitchFamily="34" charset="0"/>
              <a:ea typeface="Arial" charset="0"/>
              <a:cs typeface="Arial" panose="020B0604020202020204" pitchFamily="34" charset="0"/>
            </a:endParaRPr>
          </a:p>
        </p:txBody>
      </p:sp>
      <p:sp>
        <p:nvSpPr>
          <p:cNvPr id="55" name="TextBox 54">
            <a:extLst>
              <a:ext uri="{FF2B5EF4-FFF2-40B4-BE49-F238E27FC236}">
                <a16:creationId xmlns:a16="http://schemas.microsoft.com/office/drawing/2014/main" id="{CE118C7B-FBB4-9799-28F2-195BF99F561A}"/>
              </a:ext>
            </a:extLst>
          </p:cNvPr>
          <p:cNvSpPr txBox="1">
            <a:spLocks/>
          </p:cNvSpPr>
          <p:nvPr/>
        </p:nvSpPr>
        <p:spPr>
          <a:xfrm>
            <a:off x="857545" y="26608003"/>
            <a:ext cx="8191500" cy="6733382"/>
          </a:xfrm>
          <a:prstGeom prst="rect">
            <a:avLst/>
          </a:prstGeom>
          <a:solidFill>
            <a:schemeClr val="bg1">
              <a:alpha val="63000"/>
            </a:schemeClr>
          </a:solidFill>
          <a:effectLst/>
        </p:spPr>
        <p:txBody>
          <a:bodyPr>
            <a:spAutoFit/>
          </a:bodyPr>
          <a:lstStyle/>
          <a:p>
            <a:pPr algn="just">
              <a:lnSpc>
                <a:spcPts val="3833"/>
              </a:lnSpc>
              <a:spcAft>
                <a:spcPts val="1000"/>
              </a:spcAft>
              <a:defRPr/>
            </a:pPr>
            <a:r>
              <a:rPr lang="en-US" sz="4000" b="1" dirty="0">
                <a:solidFill>
                  <a:srgbClr val="005BBB"/>
                </a:solidFill>
                <a:latin typeface="Arial" panose="020B0604020202020204" pitchFamily="34" charset="0"/>
                <a:cs typeface="Arial" panose="020B0604020202020204" pitchFamily="34" charset="0"/>
              </a:rPr>
              <a:t>Data Analysis </a:t>
            </a:r>
          </a:p>
          <a:p>
            <a:pPr algn="just">
              <a:lnSpc>
                <a:spcPct val="150000"/>
              </a:lnSpc>
              <a:spcAft>
                <a:spcPts val="1000"/>
              </a:spcAft>
              <a:defRPr/>
            </a:pPr>
            <a:r>
              <a:rPr lang="en-GB" sz="2400" dirty="0">
                <a:latin typeface="Arial" panose="020B0604020202020204" pitchFamily="34" charset="0"/>
                <a:ea typeface="Arial" charset="0"/>
                <a:cs typeface="Arial" panose="020B0604020202020204" pitchFamily="34" charset="0"/>
              </a:rPr>
              <a:t>Masks: The collection of images consists of 111 annotated training CT volumes (and 20 performance test volumes) with in-plane resolution up to 512^2 slices and arbitrary numbers of slices; background, liver and tumours are annotated. Lesions come in a wide variety of sizes and contrasts giving rise to class volatility and boundary fuzziness, which compels thoughtful preprocessing, targeted ROI training and augmentation. Competent review cheques confirmed matching of CT-mask pairs, exclusion of corrupted studies and preservation of meaningful anatomy slices.</a:t>
            </a:r>
            <a:endParaRPr lang="en-US" sz="2400" dirty="0">
              <a:latin typeface="Arial" panose="020B0604020202020204" pitchFamily="34" charset="0"/>
              <a:ea typeface="Arial" charset="0"/>
              <a:cs typeface="Arial" panose="020B0604020202020204" pitchFamily="34" charset="0"/>
            </a:endParaRPr>
          </a:p>
        </p:txBody>
      </p:sp>
      <p:graphicFrame>
        <p:nvGraphicFramePr>
          <p:cNvPr id="61" name="Chart 4">
            <a:extLst>
              <a:ext uri="{FF2B5EF4-FFF2-40B4-BE49-F238E27FC236}">
                <a16:creationId xmlns:a16="http://schemas.microsoft.com/office/drawing/2014/main" id="{81628E1D-21D2-A568-140F-4F9867DA06A1}"/>
              </a:ext>
            </a:extLst>
          </p:cNvPr>
          <p:cNvGraphicFramePr>
            <a:graphicFrameLocks/>
          </p:cNvGraphicFramePr>
          <p:nvPr>
            <p:extLst>
              <p:ext uri="{D42A27DB-BD31-4B8C-83A1-F6EECF244321}">
                <p14:modId xmlns:p14="http://schemas.microsoft.com/office/powerpoint/2010/main" val="1038007334"/>
              </p:ext>
            </p:extLst>
          </p:nvPr>
        </p:nvGraphicFramePr>
        <p:xfrm>
          <a:off x="10657233" y="10316812"/>
          <a:ext cx="6143559" cy="5493856"/>
        </p:xfrm>
        <a:graphic>
          <a:graphicData uri="http://schemas.openxmlformats.org/drawingml/2006/chart">
            <c:chart xmlns:c="http://schemas.openxmlformats.org/drawingml/2006/chart" xmlns:r="http://schemas.openxmlformats.org/officeDocument/2006/relationships" r:id="rId3"/>
          </a:graphicData>
        </a:graphic>
      </p:graphicFrame>
      <p:sp>
        <p:nvSpPr>
          <p:cNvPr id="1031" name="TextBox 1030">
            <a:extLst>
              <a:ext uri="{FF2B5EF4-FFF2-40B4-BE49-F238E27FC236}">
                <a16:creationId xmlns:a16="http://schemas.microsoft.com/office/drawing/2014/main" id="{FE639642-0756-CFE0-BE9E-484465460BAC}"/>
              </a:ext>
            </a:extLst>
          </p:cNvPr>
          <p:cNvSpPr txBox="1">
            <a:spLocks/>
          </p:cNvSpPr>
          <p:nvPr/>
        </p:nvSpPr>
        <p:spPr>
          <a:xfrm>
            <a:off x="9926075" y="4304032"/>
            <a:ext cx="8153400" cy="5071388"/>
          </a:xfrm>
          <a:prstGeom prst="rect">
            <a:avLst/>
          </a:prstGeom>
          <a:solidFill>
            <a:schemeClr val="bg1">
              <a:alpha val="63000"/>
            </a:schemeClr>
          </a:solidFill>
          <a:effectLst/>
        </p:spPr>
        <p:txBody>
          <a:bodyPr wrap="square">
            <a:spAutoFit/>
          </a:bodyPr>
          <a:lstStyle/>
          <a:p>
            <a:pPr algn="just">
              <a:lnSpc>
                <a:spcPts val="3833"/>
              </a:lnSpc>
              <a:spcAft>
                <a:spcPts val="1000"/>
              </a:spcAft>
              <a:defRPr/>
            </a:pPr>
            <a:r>
              <a:rPr lang="en-US" sz="4000" b="1" dirty="0">
                <a:solidFill>
                  <a:srgbClr val="005BBB"/>
                </a:solidFill>
                <a:latin typeface="Arial" panose="020B0604020202020204" pitchFamily="34" charset="0"/>
                <a:cs typeface="Arial" panose="020B0604020202020204" pitchFamily="34" charset="0"/>
              </a:rPr>
              <a:t>Result</a:t>
            </a:r>
          </a:p>
          <a:p>
            <a:pPr algn="just">
              <a:lnSpc>
                <a:spcPct val="150000"/>
              </a:lnSpc>
              <a:spcAft>
                <a:spcPts val="1500"/>
              </a:spcAft>
              <a:defRPr/>
            </a:pPr>
            <a:r>
              <a:rPr lang="en-GB" sz="2400" dirty="0">
                <a:latin typeface="Arial" panose="020B0604020202020204" pitchFamily="34" charset="0"/>
                <a:ea typeface="Arial" charset="0"/>
                <a:cs typeface="Arial" panose="020B0604020202020204" pitchFamily="34" charset="0"/>
              </a:rPr>
              <a:t>On the validation set, the modified U-Net (Attention U-Net) obtained Dice = 0.84 and </a:t>
            </a:r>
            <a:r>
              <a:rPr lang="en-GB" sz="2400" dirty="0" err="1">
                <a:latin typeface="Arial" panose="020B0604020202020204" pitchFamily="34" charset="0"/>
                <a:ea typeface="Arial" charset="0"/>
                <a:cs typeface="Arial" panose="020B0604020202020204" pitchFamily="34" charset="0"/>
              </a:rPr>
              <a:t>IoU</a:t>
            </a:r>
            <a:r>
              <a:rPr lang="en-GB" sz="2400" dirty="0">
                <a:latin typeface="Arial" panose="020B0604020202020204" pitchFamily="34" charset="0"/>
                <a:ea typeface="Arial" charset="0"/>
                <a:cs typeface="Arial" panose="020B0604020202020204" pitchFamily="34" charset="0"/>
              </a:rPr>
              <a:t> = 0.80 for lesion segmentation and sensitivity = 0.88 and specificity = 0.99. Loss reduced monotonically and converged around epoch ~14, showing no overfitting artefacts. Clinically predicted masks are shown to closely follow the tumour surface with high resolution, performing well on moderately to larger sized lesions, whilst very small foci still pose a challenge.</a:t>
            </a:r>
            <a:endParaRPr lang="en-US" sz="2400" dirty="0">
              <a:latin typeface="Arial" panose="020B0604020202020204" pitchFamily="34" charset="0"/>
              <a:ea typeface="Arial" charset="0"/>
              <a:cs typeface="Arial" panose="020B0604020202020204" pitchFamily="34" charset="0"/>
            </a:endParaRPr>
          </a:p>
        </p:txBody>
      </p:sp>
      <p:sp>
        <p:nvSpPr>
          <p:cNvPr id="1035" name="TextBox 1034">
            <a:extLst>
              <a:ext uri="{FF2B5EF4-FFF2-40B4-BE49-F238E27FC236}">
                <a16:creationId xmlns:a16="http://schemas.microsoft.com/office/drawing/2014/main" id="{A01E1A3E-A7EF-928B-1B48-D995A69C23BA}"/>
              </a:ext>
            </a:extLst>
          </p:cNvPr>
          <p:cNvSpPr txBox="1">
            <a:spLocks/>
          </p:cNvSpPr>
          <p:nvPr/>
        </p:nvSpPr>
        <p:spPr>
          <a:xfrm>
            <a:off x="9985226" y="15969322"/>
            <a:ext cx="8191500" cy="5071388"/>
          </a:xfrm>
          <a:prstGeom prst="rect">
            <a:avLst/>
          </a:prstGeom>
          <a:solidFill>
            <a:schemeClr val="bg1">
              <a:alpha val="42000"/>
            </a:schemeClr>
          </a:solidFill>
        </p:spPr>
        <p:txBody>
          <a:bodyPr>
            <a:spAutoFit/>
          </a:bodyPr>
          <a:lstStyle/>
          <a:p>
            <a:pPr algn="just">
              <a:lnSpc>
                <a:spcPts val="3833"/>
              </a:lnSpc>
              <a:spcAft>
                <a:spcPts val="1000"/>
              </a:spcAft>
              <a:defRPr/>
            </a:pPr>
            <a:r>
              <a:rPr lang="en-US" sz="4000" b="1" dirty="0">
                <a:solidFill>
                  <a:srgbClr val="005BBB"/>
                </a:solidFill>
                <a:latin typeface="Arial" panose="020B0604020202020204" pitchFamily="34" charset="0"/>
                <a:cs typeface="Arial" panose="020B0604020202020204" pitchFamily="34" charset="0"/>
              </a:rPr>
              <a:t>Validation Metrics</a:t>
            </a:r>
          </a:p>
          <a:p>
            <a:pPr algn="just">
              <a:lnSpc>
                <a:spcPct val="150000"/>
              </a:lnSpc>
              <a:spcAft>
                <a:spcPts val="1000"/>
              </a:spcAft>
              <a:defRPr/>
            </a:pPr>
            <a:r>
              <a:rPr lang="en-GB" sz="2400" dirty="0">
                <a:latin typeface="Arial" panose="020B0604020202020204" pitchFamily="34" charset="0"/>
                <a:ea typeface="Arial" charset="0"/>
                <a:cs typeface="Arial" panose="020B0604020202020204" pitchFamily="34" charset="0"/>
              </a:rPr>
              <a:t>Overlap and detection measures well accepted in medical image segmentation were used to evaluate the performance. We report the Dice coefficient of similarity and Intersection-over-Union (</a:t>
            </a:r>
            <a:r>
              <a:rPr lang="en-GB" sz="2400" dirty="0" err="1">
                <a:latin typeface="Arial" panose="020B0604020202020204" pitchFamily="34" charset="0"/>
                <a:ea typeface="Arial" charset="0"/>
                <a:cs typeface="Arial" panose="020B0604020202020204" pitchFamily="34" charset="0"/>
              </a:rPr>
              <a:t>IoU</a:t>
            </a:r>
            <a:r>
              <a:rPr lang="en-GB" sz="2400" dirty="0">
                <a:latin typeface="Arial" panose="020B0604020202020204" pitchFamily="34" charset="0"/>
                <a:ea typeface="Arial" charset="0"/>
                <a:cs typeface="Arial" panose="020B0604020202020204" pitchFamily="34" charset="0"/>
              </a:rPr>
              <a:t>) coefficient as quantitative mask agreement differences and the sensitivity (recall) of tumour detection and specificity to penalise false positives. To prevent overfitting, we use early stopping in the loss curves of these incremental reviewers.</a:t>
            </a:r>
            <a:endParaRPr lang="en-US" sz="2400" dirty="0">
              <a:latin typeface="Arial" panose="020B0604020202020204" pitchFamily="34" charset="0"/>
              <a:ea typeface="Arial" charset="0"/>
              <a:cs typeface="Arial" panose="020B0604020202020204" pitchFamily="34" charset="0"/>
            </a:endParaRPr>
          </a:p>
        </p:txBody>
      </p:sp>
      <p:sp>
        <p:nvSpPr>
          <p:cNvPr id="1036" name="TextBox 1035">
            <a:extLst>
              <a:ext uri="{FF2B5EF4-FFF2-40B4-BE49-F238E27FC236}">
                <a16:creationId xmlns:a16="http://schemas.microsoft.com/office/drawing/2014/main" id="{01AFBA88-4F44-87CA-6513-11AC6BC5B057}"/>
              </a:ext>
            </a:extLst>
          </p:cNvPr>
          <p:cNvSpPr txBox="1">
            <a:spLocks/>
          </p:cNvSpPr>
          <p:nvPr/>
        </p:nvSpPr>
        <p:spPr>
          <a:xfrm>
            <a:off x="18861851" y="4304032"/>
            <a:ext cx="8191500" cy="6179384"/>
          </a:xfrm>
          <a:prstGeom prst="rect">
            <a:avLst/>
          </a:prstGeom>
          <a:solidFill>
            <a:schemeClr val="bg1">
              <a:alpha val="63000"/>
            </a:schemeClr>
          </a:solidFill>
          <a:effectLst/>
        </p:spPr>
        <p:txBody>
          <a:bodyPr>
            <a:spAutoFit/>
          </a:bodyPr>
          <a:lstStyle/>
          <a:p>
            <a:pPr algn="just">
              <a:lnSpc>
                <a:spcPts val="3833"/>
              </a:lnSpc>
              <a:spcAft>
                <a:spcPts val="1000"/>
              </a:spcAft>
              <a:defRPr/>
            </a:pPr>
            <a:r>
              <a:rPr lang="en-US" sz="4000" b="1" dirty="0">
                <a:solidFill>
                  <a:srgbClr val="005BBB"/>
                </a:solidFill>
                <a:latin typeface="Arial" panose="020B0604020202020204" pitchFamily="34" charset="0"/>
                <a:cs typeface="Arial" panose="020B0604020202020204" pitchFamily="34" charset="0"/>
              </a:rPr>
              <a:t>Conclusion</a:t>
            </a:r>
          </a:p>
          <a:p>
            <a:pPr algn="just">
              <a:lnSpc>
                <a:spcPct val="150000"/>
              </a:lnSpc>
              <a:spcAft>
                <a:spcPts val="1000"/>
              </a:spcAft>
              <a:defRPr/>
            </a:pPr>
            <a:r>
              <a:rPr lang="en-GB" sz="2400" dirty="0">
                <a:latin typeface="Arial" panose="020B0604020202020204" pitchFamily="34" charset="0"/>
                <a:ea typeface="Arial" charset="0"/>
                <a:cs typeface="Arial" panose="020B0604020202020204" pitchFamily="34" charset="0"/>
              </a:rPr>
              <a:t>This paper presents a clinical feasible and accurate liver and liver-lesion segmentation pipeline for CT using an Attention U-Net with hybrid loss. Specifically, strong negative predictive (i.e., low false positive) rate paired with good sensitivity to lesion location makes the method promising as part of a computer-aided planning or longitudinal follow up workstation. Upcoming extensions include 3D/2.5D context, domain adaptation between scanners and centres, modelling uncertainty, multi-modal integration.</a:t>
            </a:r>
            <a:endParaRPr lang="en-US" sz="2400" dirty="0">
              <a:latin typeface="Arial" panose="020B0604020202020204" pitchFamily="34" charset="0"/>
              <a:ea typeface="Arial" charset="0"/>
              <a:cs typeface="Arial" panose="020B0604020202020204" pitchFamily="34" charset="0"/>
            </a:endParaRPr>
          </a:p>
        </p:txBody>
      </p:sp>
      <p:sp>
        <p:nvSpPr>
          <p:cNvPr id="1038" name="TextBox 1037">
            <a:extLst>
              <a:ext uri="{FF2B5EF4-FFF2-40B4-BE49-F238E27FC236}">
                <a16:creationId xmlns:a16="http://schemas.microsoft.com/office/drawing/2014/main" id="{A247AC93-F3A5-CFD1-FE45-732FCFDA5933}"/>
              </a:ext>
            </a:extLst>
          </p:cNvPr>
          <p:cNvSpPr txBox="1">
            <a:spLocks/>
          </p:cNvSpPr>
          <p:nvPr/>
        </p:nvSpPr>
        <p:spPr>
          <a:xfrm>
            <a:off x="18900305" y="11237157"/>
            <a:ext cx="8114593" cy="23276372"/>
          </a:xfrm>
          <a:prstGeom prst="rect">
            <a:avLst/>
          </a:prstGeom>
          <a:solidFill>
            <a:schemeClr val="bg1">
              <a:alpha val="63000"/>
            </a:schemeClr>
          </a:solidFill>
          <a:effectLst/>
        </p:spPr>
        <p:txBody>
          <a:bodyPr wrap="square">
            <a:spAutoFit/>
          </a:bodyPr>
          <a:lstStyle/>
          <a:p>
            <a:pPr algn="just">
              <a:lnSpc>
                <a:spcPts val="3167"/>
              </a:lnSpc>
              <a:spcAft>
                <a:spcPts val="1000"/>
              </a:spcAft>
              <a:buClr>
                <a:schemeClr val="tx2"/>
              </a:buClr>
              <a:defRPr/>
            </a:pPr>
            <a:r>
              <a:rPr lang="en-US" sz="4000" b="1" dirty="0">
                <a:solidFill>
                  <a:srgbClr val="005BBB"/>
                </a:solidFill>
                <a:latin typeface="Arial" panose="020B0604020202020204" pitchFamily="34" charset="0"/>
                <a:cs typeface="Arial" panose="020B0604020202020204" pitchFamily="34" charset="0"/>
              </a:rPr>
              <a:t>References</a:t>
            </a:r>
            <a:endParaRPr lang="en-US" sz="2000" dirty="0">
              <a:latin typeface="Arial" panose="020B0604020202020204" pitchFamily="34" charset="0"/>
              <a:ea typeface="Arial" charset="0"/>
              <a:cs typeface="Arial" panose="020B0604020202020204" pitchFamily="34" charset="0"/>
            </a:endParaRP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[1]	P. Bilic et al., “The Liver Tumor Segmentation Benchmark (LiTS),” Jan. 2019, </a:t>
            </a:r>
            <a:r>
              <a:rPr lang="en-US" sz="2400" dirty="0" err="1">
                <a:latin typeface="Arial" panose="020B0604020202020204" pitchFamily="34" charset="0"/>
                <a:ea typeface="Arial" charset="0"/>
                <a:cs typeface="Arial" panose="020B0604020202020204" pitchFamily="34" charset="0"/>
              </a:rPr>
              <a:t>doi</a:t>
            </a:r>
            <a:r>
              <a:rPr lang="en-US" sz="2400" dirty="0">
                <a:latin typeface="Arial" panose="020B0604020202020204" pitchFamily="34" charset="0"/>
                <a:ea typeface="Arial" charset="0"/>
                <a:cs typeface="Arial" panose="020B0604020202020204" pitchFamily="34" charset="0"/>
              </a:rPr>
              <a:t>: 10.1016/j.media.2022.102680. </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[2]	J. Jenisha and A. J. Dickson, “AUTOMATED LIVER TUMOR SEGMENTATION USING DEEP TRANSFER LEARNING AND ATTENTION MECHANISMS,” Journal International Journal of Research and Development (IJRD, no. 7, 2023, </a:t>
            </a:r>
            <a:r>
              <a:rPr lang="en-US" sz="2400" dirty="0" err="1">
                <a:latin typeface="Arial" panose="020B0604020202020204" pitchFamily="34" charset="0"/>
                <a:ea typeface="Arial" charset="0"/>
                <a:cs typeface="Arial" panose="020B0604020202020204" pitchFamily="34" charset="0"/>
              </a:rPr>
              <a:t>doi</a:t>
            </a:r>
            <a:r>
              <a:rPr lang="en-US" sz="2400" dirty="0">
                <a:latin typeface="Arial" panose="020B0604020202020204" pitchFamily="34" charset="0"/>
                <a:ea typeface="Arial" charset="0"/>
                <a:cs typeface="Arial" panose="020B0604020202020204" pitchFamily="34" charset="0"/>
              </a:rPr>
              <a:t>: 10.36713/epra2016. </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[3]	P. Bhandary, V. More, and R. Nagpure, “Liver Tumor Segmentation using Deep Learning Approach,” International Research Journal of Engineering and Technology, 2021, [Online]. Available: www.irjet.net </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[4]	H. Rahman, T. F. N. Bukht, A. Imran, J. Tariq, S. Tu, and A. Alzahrani, “A Deep Learning Approach for Liver and Tumor Segmentation in CT Images Using </a:t>
            </a:r>
            <a:r>
              <a:rPr lang="en-US" sz="2400" dirty="0" err="1">
                <a:latin typeface="Arial" panose="020B0604020202020204" pitchFamily="34" charset="0"/>
                <a:ea typeface="Arial" charset="0"/>
                <a:cs typeface="Arial" panose="020B0604020202020204" pitchFamily="34" charset="0"/>
              </a:rPr>
              <a:t>ResUNet</a:t>
            </a:r>
            <a:r>
              <a:rPr lang="en-US" sz="2400" dirty="0">
                <a:latin typeface="Arial" panose="020B0604020202020204" pitchFamily="34" charset="0"/>
                <a:ea typeface="Arial" charset="0"/>
                <a:cs typeface="Arial" panose="020B0604020202020204" pitchFamily="34" charset="0"/>
              </a:rPr>
              <a:t>,” Bioengineering, vol. 9, no. 8, Aug. 2022, </a:t>
            </a:r>
            <a:r>
              <a:rPr lang="en-US" sz="2400" dirty="0" err="1">
                <a:latin typeface="Arial" panose="020B0604020202020204" pitchFamily="34" charset="0"/>
                <a:ea typeface="Arial" charset="0"/>
                <a:cs typeface="Arial" panose="020B0604020202020204" pitchFamily="34" charset="0"/>
              </a:rPr>
              <a:t>doi</a:t>
            </a:r>
            <a:r>
              <a:rPr lang="en-US" sz="2400" dirty="0">
                <a:latin typeface="Arial" panose="020B0604020202020204" pitchFamily="34" charset="0"/>
                <a:ea typeface="Arial" charset="0"/>
                <a:cs typeface="Arial" panose="020B0604020202020204" pitchFamily="34" charset="0"/>
              </a:rPr>
              <a:t>: 10.3390/bioengineering9080368. </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[5]	N. Gruber, S. </a:t>
            </a:r>
            <a:r>
              <a:rPr lang="en-US" sz="2400" dirty="0" err="1">
                <a:latin typeface="Arial" panose="020B0604020202020204" pitchFamily="34" charset="0"/>
                <a:ea typeface="Arial" charset="0"/>
                <a:cs typeface="Arial" panose="020B0604020202020204" pitchFamily="34" charset="0"/>
              </a:rPr>
              <a:t>Antholzer</a:t>
            </a:r>
            <a:r>
              <a:rPr lang="en-US" sz="2400" dirty="0">
                <a:latin typeface="Arial" panose="020B0604020202020204" pitchFamily="34" charset="0"/>
                <a:ea typeface="Arial" charset="0"/>
                <a:cs typeface="Arial" panose="020B0604020202020204" pitchFamily="34" charset="0"/>
              </a:rPr>
              <a:t>, W. Jaschke, C. Kremser, and M. </a:t>
            </a:r>
            <a:r>
              <a:rPr lang="en-US" sz="2400" dirty="0" err="1">
                <a:latin typeface="Arial" panose="020B0604020202020204" pitchFamily="34" charset="0"/>
                <a:ea typeface="Arial" charset="0"/>
                <a:cs typeface="Arial" panose="020B0604020202020204" pitchFamily="34" charset="0"/>
              </a:rPr>
              <a:t>Haltmeier</a:t>
            </a:r>
            <a:r>
              <a:rPr lang="en-US" sz="2400" dirty="0">
                <a:latin typeface="Arial" panose="020B0604020202020204" pitchFamily="34" charset="0"/>
                <a:ea typeface="Arial" charset="0"/>
                <a:cs typeface="Arial" panose="020B0604020202020204" pitchFamily="34" charset="0"/>
              </a:rPr>
              <a:t>, “A Joint Deep Learning Approach for Automated Liver and Tumor Segmentation,” Feb. 2019, [Online]. Available: http://arxiv.org/abs/1902.07971 </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[6]	S. </a:t>
            </a:r>
            <a:r>
              <a:rPr lang="en-US" sz="2400" dirty="0" err="1">
                <a:latin typeface="Arial" panose="020B0604020202020204" pitchFamily="34" charset="0"/>
                <a:ea typeface="Arial" charset="0"/>
                <a:cs typeface="Arial" panose="020B0604020202020204" pitchFamily="34" charset="0"/>
              </a:rPr>
              <a:t>Allgöwer</a:t>
            </a:r>
            <a:r>
              <a:rPr lang="en-US" sz="2400" dirty="0">
                <a:latin typeface="Arial" panose="020B0604020202020204" pitchFamily="34" charset="0"/>
                <a:ea typeface="Arial" charset="0"/>
                <a:cs typeface="Arial" panose="020B0604020202020204" pitchFamily="34" charset="0"/>
              </a:rPr>
              <a:t> and S. Ljungdahl, “Liver Tumor Segmentation Using Classical Algorithms &amp; Deep Learning.” [Online]. Available: </a:t>
            </a:r>
            <a:r>
              <a:rPr lang="en-US" sz="2400" dirty="0">
                <a:latin typeface="Arial" panose="020B0604020202020204" pitchFamily="34" charset="0"/>
                <a:ea typeface="Arial" charset="0"/>
                <a:cs typeface="Arial" panose="020B0604020202020204" pitchFamily="34" charset="0"/>
                <a:hlinkClick r:id="rId4"/>
              </a:rPr>
              <a:t>www.chalmers.se</a:t>
            </a:r>
            <a:endParaRPr lang="en-US" sz="2400" dirty="0">
              <a:latin typeface="Arial" panose="020B0604020202020204" pitchFamily="34" charset="0"/>
              <a:ea typeface="Arial" charset="0"/>
              <a:cs typeface="Arial" panose="020B0604020202020204" pitchFamily="34" charset="0"/>
            </a:endParaRP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[7]	P. Bilic et al., “The Liver Tumor Segmentation Benchmark (LiTS),” Med Image Anal, vol. 84, Feb. 2023, </a:t>
            </a:r>
            <a:r>
              <a:rPr lang="en-US" sz="2400" dirty="0" err="1">
                <a:latin typeface="Arial" panose="020B0604020202020204" pitchFamily="34" charset="0"/>
                <a:ea typeface="Arial" charset="0"/>
                <a:cs typeface="Arial" panose="020B0604020202020204" pitchFamily="34" charset="0"/>
              </a:rPr>
              <a:t>doi</a:t>
            </a:r>
            <a:r>
              <a:rPr lang="en-US" sz="2400" dirty="0">
                <a:latin typeface="Arial" panose="020B0604020202020204" pitchFamily="34" charset="0"/>
                <a:ea typeface="Arial" charset="0"/>
                <a:cs typeface="Arial" panose="020B0604020202020204" pitchFamily="34" charset="0"/>
              </a:rPr>
              <a:t>: 10.1016/j.media.2022.102680.</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[8] </a:t>
            </a:r>
            <a:r>
              <a:rPr lang="en-GB" sz="2400" dirty="0">
                <a:latin typeface="Arial" panose="020B0604020202020204" pitchFamily="34" charset="0"/>
                <a:ea typeface="Arial" charset="0"/>
                <a:cs typeface="Arial" panose="020B0604020202020204" pitchFamily="34" charset="0"/>
              </a:rPr>
              <a:t>Y. A. Ayalew, K. A. Fante, and M. A. Mohammed, “Modified U-Net for liver cancer segmentation from computed tomography images with a new class balancing method,” BMC Biomed Eng, vol. 3, no. 1, Dec. 2021, </a:t>
            </a:r>
            <a:r>
              <a:rPr lang="en-GB" sz="2400" dirty="0" err="1">
                <a:latin typeface="Arial" panose="020B0604020202020204" pitchFamily="34" charset="0"/>
                <a:ea typeface="Arial" charset="0"/>
                <a:cs typeface="Arial" panose="020B0604020202020204" pitchFamily="34" charset="0"/>
              </a:rPr>
              <a:t>doi</a:t>
            </a:r>
            <a:r>
              <a:rPr lang="en-GB" sz="2400" dirty="0">
                <a:latin typeface="Arial" panose="020B0604020202020204" pitchFamily="34" charset="0"/>
                <a:ea typeface="Arial" charset="0"/>
                <a:cs typeface="Arial" panose="020B0604020202020204" pitchFamily="34" charset="0"/>
              </a:rPr>
              <a:t>: 10.1186/s42490-021-00050-y.</a:t>
            </a:r>
          </a:p>
          <a:p>
            <a:pPr algn="just">
              <a:lnSpc>
                <a:spcPct val="150000"/>
              </a:lnSpc>
              <a:buClr>
                <a:schemeClr val="tx2"/>
              </a:buClr>
              <a:defRPr/>
            </a:pPr>
            <a:r>
              <a:rPr lang="en-US" sz="2400" dirty="0">
                <a:latin typeface="Arial" panose="020B0604020202020204" pitchFamily="34" charset="0"/>
                <a:ea typeface="Arial" charset="0"/>
                <a:cs typeface="Arial" panose="020B0604020202020204" pitchFamily="34" charset="0"/>
              </a:rPr>
              <a:t>[9] H. Rahman, T. F. N. Bukht, A. Imran, J. Tariq, S. Tu, and A. Alzahrani, “A Deep Learning Approach for Liver and Tumor Segmentation in CT Images Using </a:t>
            </a:r>
            <a:r>
              <a:rPr lang="en-US" sz="2400" dirty="0" err="1">
                <a:latin typeface="Arial" panose="020B0604020202020204" pitchFamily="34" charset="0"/>
                <a:ea typeface="Arial" charset="0"/>
                <a:cs typeface="Arial" panose="020B0604020202020204" pitchFamily="34" charset="0"/>
              </a:rPr>
              <a:t>ResUNet</a:t>
            </a:r>
            <a:r>
              <a:rPr lang="en-US" sz="2400" dirty="0">
                <a:latin typeface="Arial" panose="020B0604020202020204" pitchFamily="34" charset="0"/>
                <a:ea typeface="Arial" charset="0"/>
                <a:cs typeface="Arial" panose="020B0604020202020204" pitchFamily="34" charset="0"/>
              </a:rPr>
              <a:t>,” Bioengineering, vol. 9, no. 8, Aug. 2022, </a:t>
            </a:r>
            <a:r>
              <a:rPr lang="en-US" sz="2400" dirty="0" err="1">
                <a:latin typeface="Arial" panose="020B0604020202020204" pitchFamily="34" charset="0"/>
                <a:ea typeface="Arial" charset="0"/>
                <a:cs typeface="Arial" panose="020B0604020202020204" pitchFamily="34" charset="0"/>
              </a:rPr>
              <a:t>doi</a:t>
            </a:r>
            <a:r>
              <a:rPr lang="en-US" sz="2400" dirty="0">
                <a:latin typeface="Arial" panose="020B0604020202020204" pitchFamily="34" charset="0"/>
                <a:ea typeface="Arial" charset="0"/>
                <a:cs typeface="Arial" panose="020B0604020202020204" pitchFamily="34" charset="0"/>
              </a:rPr>
              <a:t>: 10.3390/bioengineering9080368.</a:t>
            </a:r>
          </a:p>
          <a:p>
            <a:pPr algn="just">
              <a:lnSpc>
                <a:spcPct val="150000"/>
              </a:lnSpc>
              <a:buClr>
                <a:schemeClr val="tx2"/>
              </a:buClr>
              <a:defRPr/>
            </a:pPr>
            <a:r>
              <a:rPr lang="en-GB" sz="2400" dirty="0">
                <a:latin typeface="Arial" panose="020B0604020202020204" pitchFamily="34" charset="0"/>
                <a:ea typeface="Arial" charset="0"/>
                <a:cs typeface="Arial" panose="020B0604020202020204" pitchFamily="34" charset="0"/>
              </a:rPr>
              <a:t>[10]	P. Bhandary, V. More, and R. Nagpure, “Liver </a:t>
            </a:r>
            <a:r>
              <a:rPr lang="en-GB" sz="2400" dirty="0" err="1">
                <a:latin typeface="Arial" panose="020B0604020202020204" pitchFamily="34" charset="0"/>
                <a:ea typeface="Arial" charset="0"/>
                <a:cs typeface="Arial" panose="020B0604020202020204" pitchFamily="34" charset="0"/>
              </a:rPr>
              <a:t>Tumor</a:t>
            </a:r>
            <a:r>
              <a:rPr lang="en-GB" sz="2400" dirty="0">
                <a:latin typeface="Arial" panose="020B0604020202020204" pitchFamily="34" charset="0"/>
                <a:ea typeface="Arial" charset="0"/>
                <a:cs typeface="Arial" panose="020B0604020202020204" pitchFamily="34" charset="0"/>
              </a:rPr>
              <a:t> Segmentation using Deep Learning Approach,” International Research Journal of Engineering and Technology, 2021, [Online]. Available: www.irjet.net</a:t>
            </a:r>
          </a:p>
        </p:txBody>
      </p:sp>
      <p:sp>
        <p:nvSpPr>
          <p:cNvPr id="1039" name="TextBox 1038">
            <a:extLst>
              <a:ext uri="{FF2B5EF4-FFF2-40B4-BE49-F238E27FC236}">
                <a16:creationId xmlns:a16="http://schemas.microsoft.com/office/drawing/2014/main" id="{C205E587-4D85-E83B-4A33-B7BFC8E89E46}"/>
              </a:ext>
            </a:extLst>
          </p:cNvPr>
          <p:cNvSpPr txBox="1">
            <a:spLocks/>
          </p:cNvSpPr>
          <p:nvPr/>
        </p:nvSpPr>
        <p:spPr>
          <a:xfrm>
            <a:off x="18900305" y="35067846"/>
            <a:ext cx="8114593" cy="3886449"/>
          </a:xfrm>
          <a:prstGeom prst="rect">
            <a:avLst/>
          </a:prstGeom>
          <a:solidFill>
            <a:schemeClr val="bg1">
              <a:alpha val="63000"/>
            </a:schemeClr>
          </a:solidFill>
          <a:effectLst/>
        </p:spPr>
        <p:txBody>
          <a:bodyPr wrap="square">
            <a:spAutoFit/>
          </a:bodyPr>
          <a:lstStyle/>
          <a:p>
            <a:pPr algn="just">
              <a:lnSpc>
                <a:spcPts val="3167"/>
              </a:lnSpc>
              <a:spcAft>
                <a:spcPts val="1000"/>
              </a:spcAft>
              <a:buClr>
                <a:schemeClr val="tx2"/>
              </a:buClr>
              <a:defRPr/>
            </a:pPr>
            <a:r>
              <a:rPr lang="en-US" sz="4000" b="1" dirty="0">
                <a:solidFill>
                  <a:srgbClr val="005BBB"/>
                </a:solidFill>
                <a:latin typeface="Arial" panose="020B0604020202020204" pitchFamily="34" charset="0"/>
                <a:cs typeface="Arial" panose="020B0604020202020204" pitchFamily="34" charset="0"/>
              </a:rPr>
              <a:t>Acknowledgement</a:t>
            </a:r>
            <a:endParaRPr lang="en-US" sz="2000" b="1" dirty="0">
              <a:solidFill>
                <a:srgbClr val="005BBB"/>
              </a:solidFill>
              <a:latin typeface="Arial" panose="020B0604020202020204" pitchFamily="34" charset="0"/>
              <a:cs typeface="Arial" panose="020B0604020202020204" pitchFamily="34" charset="0"/>
            </a:endParaRPr>
          </a:p>
          <a:p>
            <a:pPr algn="just">
              <a:lnSpc>
                <a:spcPct val="150000"/>
              </a:lnSpc>
              <a:spcAft>
                <a:spcPts val="1000"/>
              </a:spcAft>
              <a:buClr>
                <a:schemeClr val="tx2"/>
              </a:buClr>
              <a:defRPr/>
            </a:pPr>
            <a:r>
              <a:rPr lang="en-GB" sz="2400" dirty="0">
                <a:latin typeface="Arial" panose="020B0604020202020204" pitchFamily="34" charset="0"/>
                <a:ea typeface="Arial" charset="0"/>
                <a:cs typeface="Arial" panose="020B0604020202020204" pitchFamily="34" charset="0"/>
              </a:rPr>
              <a:t>We thank our supervisors and team members for advice, the organisers of LiTS for the dataset, and institutional support in the computing. All data were handled in accordance with ethical standards after de-identification; institutional approvals are indicated wherever necessary in the full thesis.</a:t>
            </a:r>
            <a:endParaRPr lang="en-US" sz="2400" dirty="0">
              <a:latin typeface="Arial" panose="020B0604020202020204" pitchFamily="34" charset="0"/>
              <a:ea typeface="Arial" charset="0"/>
              <a:cs typeface="Arial" panose="020B0604020202020204" pitchFamily="34" charset="0"/>
            </a:endParaRPr>
          </a:p>
        </p:txBody>
      </p:sp>
      <p:pic>
        <p:nvPicPr>
          <p:cNvPr id="6" name="Picture 5" descr="A graph of a graph of a graph">
            <a:extLst>
              <a:ext uri="{FF2B5EF4-FFF2-40B4-BE49-F238E27FC236}">
                <a16:creationId xmlns:a16="http://schemas.microsoft.com/office/drawing/2014/main" id="{77382894-1551-5F48-1CA9-41DEFF2260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0405" y="21367232"/>
            <a:ext cx="8220319" cy="4553520"/>
          </a:xfrm>
          <a:prstGeom prst="rect">
            <a:avLst/>
          </a:prstGeom>
        </p:spPr>
      </p:pic>
      <p:cxnSp>
        <p:nvCxnSpPr>
          <p:cNvPr id="10" name="Straight Connector 9">
            <a:extLst>
              <a:ext uri="{FF2B5EF4-FFF2-40B4-BE49-F238E27FC236}">
                <a16:creationId xmlns:a16="http://schemas.microsoft.com/office/drawing/2014/main" id="{CCD8ABD3-9549-EA6B-C16E-1CB7A9AE2695}"/>
              </a:ext>
            </a:extLst>
          </p:cNvPr>
          <p:cNvCxnSpPr/>
          <p:nvPr/>
        </p:nvCxnSpPr>
        <p:spPr bwMode="auto">
          <a:xfrm>
            <a:off x="782824" y="58767175"/>
            <a:ext cx="8153400" cy="0"/>
          </a:xfrm>
          <a:prstGeom prst="line">
            <a:avLst/>
          </a:prstGeom>
          <a:noFill/>
          <a:ln w="25400" cap="flat" cmpd="sng" algn="ctr">
            <a:solidFill>
              <a:schemeClr val="tx1"/>
            </a:solidFill>
            <a:prstDash val="dash"/>
            <a:round/>
            <a:headEnd type="none" w="med" len="med"/>
            <a:tailEnd type="none" w="med" len="med"/>
          </a:ln>
          <a:effectLst/>
        </p:spPr>
      </p:cxnSp>
      <p:pic>
        <p:nvPicPr>
          <p:cNvPr id="11" name="Picture Placeholder 4" descr="A screenshot of a computer program">
            <a:extLst>
              <a:ext uri="{FF2B5EF4-FFF2-40B4-BE49-F238E27FC236}">
                <a16:creationId xmlns:a16="http://schemas.microsoft.com/office/drawing/2014/main" id="{6FC34259-5818-0BB2-96C7-3B729AB5F179}"/>
              </a:ext>
            </a:extLst>
          </p:cNvPr>
          <p:cNvPicPr>
            <a:picLocks noChangeAspect="1"/>
          </p:cNvPicPr>
          <p:nvPr/>
        </p:nvPicPr>
        <p:blipFill>
          <a:blip r:embed="rId6">
            <a:extLst>
              <a:ext uri="{28A0092B-C50C-407E-A947-70E740481C1C}">
                <a14:useLocalDpi xmlns:a14="http://schemas.microsoft.com/office/drawing/2010/main" val="0"/>
              </a:ext>
            </a:extLst>
          </a:blip>
          <a:srcRect t="15183" b="15183"/>
          <a:stretch>
            <a:fillRect/>
          </a:stretch>
        </p:blipFill>
        <p:spPr>
          <a:xfrm>
            <a:off x="410374" y="33940646"/>
            <a:ext cx="9096589" cy="5055266"/>
          </a:xfrm>
          <a:prstGeom prst="rect">
            <a:avLst/>
          </a:prstGeom>
        </p:spPr>
      </p:pic>
      <p:cxnSp>
        <p:nvCxnSpPr>
          <p:cNvPr id="17" name="Straight Connector 16">
            <a:extLst>
              <a:ext uri="{FF2B5EF4-FFF2-40B4-BE49-F238E27FC236}">
                <a16:creationId xmlns:a16="http://schemas.microsoft.com/office/drawing/2014/main" id="{2F5DDB94-CBF9-BC29-7FDC-217C6BBD3C2F}"/>
              </a:ext>
            </a:extLst>
          </p:cNvPr>
          <p:cNvCxnSpPr/>
          <p:nvPr/>
        </p:nvCxnSpPr>
        <p:spPr bwMode="auto">
          <a:xfrm>
            <a:off x="1057938" y="25850076"/>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2" name="Straight Connector 21">
            <a:extLst>
              <a:ext uri="{FF2B5EF4-FFF2-40B4-BE49-F238E27FC236}">
                <a16:creationId xmlns:a16="http://schemas.microsoft.com/office/drawing/2014/main" id="{C59266AC-3BF6-F6C8-C043-5AB58BFC5529}"/>
              </a:ext>
            </a:extLst>
          </p:cNvPr>
          <p:cNvCxnSpPr/>
          <p:nvPr/>
        </p:nvCxnSpPr>
        <p:spPr bwMode="auto">
          <a:xfrm>
            <a:off x="18962048" y="10483416"/>
            <a:ext cx="8153400" cy="0"/>
          </a:xfrm>
          <a:prstGeom prst="line">
            <a:avLst/>
          </a:prstGeom>
          <a:noFill/>
          <a:ln w="25400" cap="flat" cmpd="sng" algn="ctr">
            <a:solidFill>
              <a:schemeClr val="tx1"/>
            </a:solidFill>
            <a:prstDash val="dash"/>
            <a:round/>
            <a:headEnd type="none" w="med" len="med"/>
            <a:tailEnd type="none" w="med" len="med"/>
          </a:ln>
          <a:effectLst/>
        </p:spPr>
      </p:cxnSp>
      <p:cxnSp>
        <p:nvCxnSpPr>
          <p:cNvPr id="23" name="Straight Connector 22">
            <a:extLst>
              <a:ext uri="{FF2B5EF4-FFF2-40B4-BE49-F238E27FC236}">
                <a16:creationId xmlns:a16="http://schemas.microsoft.com/office/drawing/2014/main" id="{F6090B5C-3298-7F16-A9B3-987A2D070DA2}"/>
              </a:ext>
            </a:extLst>
          </p:cNvPr>
          <p:cNvCxnSpPr>
            <a:cxnSpLocks/>
          </p:cNvCxnSpPr>
          <p:nvPr/>
        </p:nvCxnSpPr>
        <p:spPr bwMode="auto">
          <a:xfrm>
            <a:off x="934775" y="39496449"/>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4" name="Straight Connector 23">
            <a:extLst>
              <a:ext uri="{FF2B5EF4-FFF2-40B4-BE49-F238E27FC236}">
                <a16:creationId xmlns:a16="http://schemas.microsoft.com/office/drawing/2014/main" id="{5F856A65-7397-7642-9EA0-3B49E9859AE1}"/>
              </a:ext>
            </a:extLst>
          </p:cNvPr>
          <p:cNvCxnSpPr>
            <a:cxnSpLocks/>
          </p:cNvCxnSpPr>
          <p:nvPr/>
        </p:nvCxnSpPr>
        <p:spPr bwMode="auto">
          <a:xfrm>
            <a:off x="10142250" y="39496449"/>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2" name="Straight Connector 1">
            <a:extLst>
              <a:ext uri="{FF2B5EF4-FFF2-40B4-BE49-F238E27FC236}">
                <a16:creationId xmlns:a16="http://schemas.microsoft.com/office/drawing/2014/main" id="{958022A1-885B-3FE0-920A-7D7F02B89C91}"/>
              </a:ext>
            </a:extLst>
          </p:cNvPr>
          <p:cNvCxnSpPr>
            <a:cxnSpLocks/>
          </p:cNvCxnSpPr>
          <p:nvPr/>
        </p:nvCxnSpPr>
        <p:spPr bwMode="auto">
          <a:xfrm>
            <a:off x="19000148" y="34790967"/>
            <a:ext cx="7991107" cy="0"/>
          </a:xfrm>
          <a:prstGeom prst="line">
            <a:avLst/>
          </a:prstGeom>
          <a:noFill/>
          <a:ln w="25400" cap="flat" cmpd="sng" algn="ctr">
            <a:solidFill>
              <a:schemeClr val="tx1"/>
            </a:solidFill>
            <a:prstDash val="dash"/>
            <a:round/>
            <a:headEnd type="none" w="med" len="med"/>
            <a:tailEnd type="none" w="med" len="med"/>
          </a:ln>
          <a:effectLst/>
        </p:spPr>
      </p:cxnSp>
      <p:cxnSp>
        <p:nvCxnSpPr>
          <p:cNvPr id="3" name="Straight Connector 2">
            <a:extLst>
              <a:ext uri="{FF2B5EF4-FFF2-40B4-BE49-F238E27FC236}">
                <a16:creationId xmlns:a16="http://schemas.microsoft.com/office/drawing/2014/main" id="{31EB9EA1-C4A5-B9B1-A397-E9E5B99CC0C8}"/>
              </a:ext>
            </a:extLst>
          </p:cNvPr>
          <p:cNvCxnSpPr>
            <a:cxnSpLocks/>
          </p:cNvCxnSpPr>
          <p:nvPr/>
        </p:nvCxnSpPr>
        <p:spPr bwMode="auto">
          <a:xfrm>
            <a:off x="18962048" y="39496449"/>
            <a:ext cx="7991107" cy="0"/>
          </a:xfrm>
          <a:prstGeom prst="line">
            <a:avLst/>
          </a:prstGeom>
          <a:noFill/>
          <a:ln w="25400" cap="flat" cmpd="sng" algn="ctr">
            <a:solidFill>
              <a:schemeClr val="tx1"/>
            </a:solidFill>
            <a:prstDash val="dash"/>
            <a:round/>
            <a:headEnd type="none" w="med" len="med"/>
            <a:tailEnd type="none" w="med" len="med"/>
          </a:ln>
          <a:effectLst/>
        </p:spPr>
      </p:cxnSp>
      <p:sp>
        <p:nvSpPr>
          <p:cNvPr id="7" name="TextBox 6">
            <a:extLst>
              <a:ext uri="{FF2B5EF4-FFF2-40B4-BE49-F238E27FC236}">
                <a16:creationId xmlns:a16="http://schemas.microsoft.com/office/drawing/2014/main" id="{0C31BD22-D346-1889-2C31-706FEE3DCF9B}"/>
              </a:ext>
            </a:extLst>
          </p:cNvPr>
          <p:cNvSpPr txBox="1">
            <a:spLocks/>
          </p:cNvSpPr>
          <p:nvPr/>
        </p:nvSpPr>
        <p:spPr>
          <a:xfrm>
            <a:off x="9887975" y="27553016"/>
            <a:ext cx="8191500" cy="4908780"/>
          </a:xfrm>
          <a:prstGeom prst="rect">
            <a:avLst/>
          </a:prstGeom>
          <a:solidFill>
            <a:schemeClr val="bg1">
              <a:alpha val="63000"/>
            </a:schemeClr>
          </a:solidFill>
          <a:effectLst/>
        </p:spPr>
        <p:txBody>
          <a:bodyPr>
            <a:spAutoFit/>
          </a:bodyPr>
          <a:lstStyle/>
          <a:p>
            <a:pPr algn="just">
              <a:lnSpc>
                <a:spcPts val="3833"/>
              </a:lnSpc>
              <a:spcAft>
                <a:spcPts val="1000"/>
              </a:spcAft>
              <a:defRPr/>
            </a:pPr>
            <a:r>
              <a:rPr lang="en-US" sz="4000" b="1" dirty="0">
                <a:solidFill>
                  <a:srgbClr val="005BBB"/>
                </a:solidFill>
                <a:latin typeface="Arial" panose="020B0604020202020204" pitchFamily="34" charset="0"/>
                <a:cs typeface="Arial" panose="020B0604020202020204" pitchFamily="34" charset="0"/>
              </a:rPr>
              <a:t>Comparison Table </a:t>
            </a: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a:p>
            <a:pPr algn="just">
              <a:lnSpc>
                <a:spcPts val="3833"/>
              </a:lnSpc>
              <a:spcAft>
                <a:spcPts val="1000"/>
              </a:spcAft>
              <a:defRPr/>
            </a:pPr>
            <a:endParaRPr lang="en-US" sz="4000" b="1" dirty="0">
              <a:solidFill>
                <a:srgbClr val="005BBB"/>
              </a:solidFill>
              <a:latin typeface="Arial" panose="020B0604020202020204" pitchFamily="34" charset="0"/>
              <a:cs typeface="Arial" panose="020B0604020202020204" pitchFamily="34" charset="0"/>
            </a:endParaRPr>
          </a:p>
        </p:txBody>
      </p:sp>
      <p:cxnSp>
        <p:nvCxnSpPr>
          <p:cNvPr id="21" name="Straight Connector 20">
            <a:extLst>
              <a:ext uri="{FF2B5EF4-FFF2-40B4-BE49-F238E27FC236}">
                <a16:creationId xmlns:a16="http://schemas.microsoft.com/office/drawing/2014/main" id="{222DF737-4E8C-9278-A2B1-76BA3881931B}"/>
              </a:ext>
            </a:extLst>
          </p:cNvPr>
          <p:cNvCxnSpPr>
            <a:cxnSpLocks/>
          </p:cNvCxnSpPr>
          <p:nvPr/>
        </p:nvCxnSpPr>
        <p:spPr bwMode="auto">
          <a:xfrm>
            <a:off x="10024262" y="26397203"/>
            <a:ext cx="7991107" cy="0"/>
          </a:xfrm>
          <a:prstGeom prst="line">
            <a:avLst/>
          </a:prstGeom>
          <a:noFill/>
          <a:ln w="25400" cap="flat" cmpd="sng" algn="ctr">
            <a:solidFill>
              <a:schemeClr val="tx1"/>
            </a:solidFill>
            <a:prstDash val="dash"/>
            <a:round/>
            <a:headEnd type="none" w="med" len="med"/>
            <a:tailEnd type="none" w="med" len="med"/>
          </a:ln>
          <a:effectLst/>
        </p:spPr>
      </p:cxnSp>
      <p:graphicFrame>
        <p:nvGraphicFramePr>
          <p:cNvPr id="25" name="Table 24">
            <a:extLst>
              <a:ext uri="{FF2B5EF4-FFF2-40B4-BE49-F238E27FC236}">
                <a16:creationId xmlns:a16="http://schemas.microsoft.com/office/drawing/2014/main" id="{5A23DE63-4E85-1AAF-8D3F-4C602A8D6705}"/>
              </a:ext>
            </a:extLst>
          </p:cNvPr>
          <p:cNvGraphicFramePr>
            <a:graphicFrameLocks noGrp="1"/>
          </p:cNvGraphicFramePr>
          <p:nvPr>
            <p:extLst>
              <p:ext uri="{D42A27DB-BD31-4B8C-83A1-F6EECF244321}">
                <p14:modId xmlns:p14="http://schemas.microsoft.com/office/powerpoint/2010/main" val="2888411550"/>
              </p:ext>
            </p:extLst>
          </p:nvPr>
        </p:nvGraphicFramePr>
        <p:xfrm>
          <a:off x="10035539" y="28402004"/>
          <a:ext cx="8023861" cy="7320534"/>
        </p:xfrm>
        <a:graphic>
          <a:graphicData uri="http://schemas.openxmlformats.org/drawingml/2006/table">
            <a:tbl>
              <a:tblPr firstRow="1" firstCol="1">
                <a:tableStyleId>{5C22544A-7EE6-4342-B048-85BDC9FD1C3A}</a:tableStyleId>
              </a:tblPr>
              <a:tblGrid>
                <a:gridCol w="735495">
                  <a:extLst>
                    <a:ext uri="{9D8B030D-6E8A-4147-A177-3AD203B41FA5}">
                      <a16:colId xmlns:a16="http://schemas.microsoft.com/office/drawing/2014/main" val="117213"/>
                    </a:ext>
                  </a:extLst>
                </a:gridCol>
                <a:gridCol w="2621180">
                  <a:extLst>
                    <a:ext uri="{9D8B030D-6E8A-4147-A177-3AD203B41FA5}">
                      <a16:colId xmlns:a16="http://schemas.microsoft.com/office/drawing/2014/main" val="1794142235"/>
                    </a:ext>
                  </a:extLst>
                </a:gridCol>
                <a:gridCol w="4667186">
                  <a:extLst>
                    <a:ext uri="{9D8B030D-6E8A-4147-A177-3AD203B41FA5}">
                      <a16:colId xmlns:a16="http://schemas.microsoft.com/office/drawing/2014/main" val="216196560"/>
                    </a:ext>
                  </a:extLst>
                </a:gridCol>
              </a:tblGrid>
              <a:tr h="310262">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 Ref</a:t>
                      </a:r>
                    </a:p>
                  </a:txBody>
                  <a:tcPr marL="66675" marR="66675" marT="0" marB="0" anchor="ctr"/>
                </a:tc>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Model Name </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Results</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extLst>
                  <a:ext uri="{0D108BD9-81ED-4DB2-BD59-A6C34878D82A}">
                    <a16:rowId xmlns:a16="http://schemas.microsoft.com/office/drawing/2014/main" val="2561342441"/>
                  </a:ext>
                </a:extLst>
              </a:tr>
              <a:tr h="636687">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[6]</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U-Net</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n-US" sz="2400" kern="100">
                          <a:effectLst/>
                          <a:latin typeface="Arial" panose="020B0604020202020204" pitchFamily="34" charset="0"/>
                          <a:cs typeface="Arial" panose="020B0604020202020204" pitchFamily="34" charset="0"/>
                        </a:rPr>
                        <a:t>DSC (Dice Similarity Coefficient): 0.766, Recall: 0.796</a:t>
                      </a:r>
                      <a:endParaRPr lang="en-GB" sz="2400" kern="10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extLst>
                  <a:ext uri="{0D108BD9-81ED-4DB2-BD59-A6C34878D82A}">
                    <a16:rowId xmlns:a16="http://schemas.microsoft.com/office/drawing/2014/main" val="3737140148"/>
                  </a:ext>
                </a:extLst>
              </a:tr>
              <a:tr h="963112">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[7]</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s-ES" sz="2400" kern="100" dirty="0">
                          <a:effectLst/>
                          <a:latin typeface="Arial" panose="020B0604020202020204" pitchFamily="34" charset="0"/>
                          <a:cs typeface="Arial" panose="020B0604020202020204" pitchFamily="34" charset="0"/>
                        </a:rPr>
                        <a:t>U-Net + </a:t>
                      </a:r>
                      <a:r>
                        <a:rPr lang="es-ES" sz="2400" kern="100" dirty="0" err="1">
                          <a:effectLst/>
                          <a:latin typeface="Arial" panose="020B0604020202020204" pitchFamily="34" charset="0"/>
                          <a:cs typeface="Arial" panose="020B0604020202020204" pitchFamily="34" charset="0"/>
                        </a:rPr>
                        <a:t>Tiramisu</a:t>
                      </a:r>
                      <a:r>
                        <a:rPr lang="es-ES" sz="2400" kern="100" dirty="0">
                          <a:effectLst/>
                          <a:latin typeface="Arial" panose="020B0604020202020204" pitchFamily="34" charset="0"/>
                          <a:cs typeface="Arial" panose="020B0604020202020204" pitchFamily="34" charset="0"/>
                        </a:rPr>
                        <a:t> (</a:t>
                      </a:r>
                      <a:r>
                        <a:rPr lang="es-ES" sz="2400" kern="100" dirty="0" err="1">
                          <a:effectLst/>
                          <a:latin typeface="Arial" panose="020B0604020202020204" pitchFamily="34" charset="0"/>
                          <a:cs typeface="Arial" panose="020B0604020202020204" pitchFamily="34" charset="0"/>
                        </a:rPr>
                        <a:t>Tversky</a:t>
                      </a:r>
                      <a:r>
                        <a:rPr lang="es-ES" sz="2400" kern="100" dirty="0">
                          <a:effectLst/>
                          <a:latin typeface="Arial" panose="020B0604020202020204" pitchFamily="34" charset="0"/>
                          <a:cs typeface="Arial" panose="020B0604020202020204" pitchFamily="34" charset="0"/>
                        </a:rPr>
                        <a:t> </a:t>
                      </a:r>
                      <a:r>
                        <a:rPr lang="es-ES" sz="2400" kern="100" dirty="0" err="1">
                          <a:effectLst/>
                          <a:latin typeface="Arial" panose="020B0604020202020204" pitchFamily="34" charset="0"/>
                          <a:cs typeface="Arial" panose="020B0604020202020204" pitchFamily="34" charset="0"/>
                        </a:rPr>
                        <a:t>Loss</a:t>
                      </a:r>
                      <a:r>
                        <a:rPr lang="es-ES" sz="2400" kern="100" dirty="0">
                          <a:effectLst/>
                          <a:latin typeface="Arial" panose="020B0604020202020204" pitchFamily="34" charset="0"/>
                          <a:cs typeface="Arial" panose="020B0604020202020204" pitchFamily="34" charset="0"/>
                        </a:rPr>
                        <a:t>)</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n-US" sz="2400" kern="100" dirty="0">
                          <a:effectLst/>
                          <a:latin typeface="Arial" panose="020B0604020202020204" pitchFamily="34" charset="0"/>
                          <a:cs typeface="Arial" panose="020B0604020202020204" pitchFamily="34" charset="0"/>
                        </a:rPr>
                        <a:t>Dice Score: 0.57, VOE: 0.34, RVD: 0.02, ASSD: 0.95, MSSD: 6.81, RMSD: 1.60</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extLst>
                  <a:ext uri="{0D108BD9-81ED-4DB2-BD59-A6C34878D82A}">
                    <a16:rowId xmlns:a16="http://schemas.microsoft.com/office/drawing/2014/main" val="2153815590"/>
                  </a:ext>
                </a:extLst>
              </a:tr>
              <a:tr h="310262">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[8]</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Original U-Net</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Dice = 0.9612%</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037712408"/>
                  </a:ext>
                </a:extLst>
              </a:tr>
              <a:tr h="1289537">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[9]</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n-GB" sz="2400" kern="100" dirty="0" err="1">
                          <a:effectLst/>
                          <a:latin typeface="Arial" panose="020B0604020202020204" pitchFamily="34" charset="0"/>
                          <a:cs typeface="Arial" panose="020B0604020202020204" pitchFamily="34" charset="0"/>
                        </a:rPr>
                        <a:t>ResUNet</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99.55% accuracy for liver segmentation. 99.6% accuracy for </a:t>
                      </a:r>
                      <a:r>
                        <a:rPr lang="en-GB" sz="2400" kern="100" dirty="0" err="1">
                          <a:effectLst/>
                          <a:latin typeface="Arial" panose="020B0604020202020204" pitchFamily="34" charset="0"/>
                          <a:cs typeface="Arial" panose="020B0604020202020204" pitchFamily="34" charset="0"/>
                        </a:rPr>
                        <a:t>tumor</a:t>
                      </a:r>
                      <a:r>
                        <a:rPr lang="en-GB" sz="2400" kern="100" dirty="0">
                          <a:effectLst/>
                          <a:latin typeface="Arial" panose="020B0604020202020204" pitchFamily="34" charset="0"/>
                          <a:cs typeface="Arial" panose="020B0604020202020204" pitchFamily="34" charset="0"/>
                        </a:rPr>
                        <a:t> segmentation, with a Dice coefficient of 99.2%</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6675" marR="66675" marT="0" marB="0" anchor="ctr"/>
                </a:tc>
                <a:extLst>
                  <a:ext uri="{0D108BD9-81ED-4DB2-BD59-A6C34878D82A}">
                    <a16:rowId xmlns:a16="http://schemas.microsoft.com/office/drawing/2014/main" val="1292412874"/>
                  </a:ext>
                </a:extLst>
              </a:tr>
              <a:tr h="963112">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[10]</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15000"/>
                        </a:lnSpc>
                        <a:spcAft>
                          <a:spcPts val="800"/>
                        </a:spcAft>
                        <a:buNone/>
                      </a:pPr>
                      <a:r>
                        <a:rPr lang="en-GB" sz="2400" kern="100" dirty="0" err="1">
                          <a:effectLst/>
                          <a:latin typeface="Arial" panose="020B0604020202020204" pitchFamily="34" charset="0"/>
                          <a:cs typeface="Arial" panose="020B0604020202020204" pitchFamily="34" charset="0"/>
                        </a:rPr>
                        <a:t>ResUNet</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Dice coefficient of 0.9527 for liver segmentation and 0.77108 for </a:t>
                      </a:r>
                      <a:r>
                        <a:rPr lang="en-GB" sz="2400" kern="100" dirty="0" err="1">
                          <a:effectLst/>
                          <a:latin typeface="Arial" panose="020B0604020202020204" pitchFamily="34" charset="0"/>
                          <a:cs typeface="Arial" panose="020B0604020202020204" pitchFamily="34" charset="0"/>
                        </a:rPr>
                        <a:t>tumor</a:t>
                      </a:r>
                      <a:r>
                        <a:rPr lang="en-GB" sz="2400" kern="100" dirty="0">
                          <a:effectLst/>
                          <a:latin typeface="Arial" panose="020B0604020202020204" pitchFamily="34" charset="0"/>
                          <a:cs typeface="Arial" panose="020B0604020202020204" pitchFamily="34" charset="0"/>
                        </a:rPr>
                        <a:t> segmentation</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53078918"/>
                  </a:ext>
                </a:extLst>
              </a:tr>
              <a:tr h="1289537">
                <a:tc gridSpan="2">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Proposed Attention    U-Net</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endParaRPr lang="en-GB"/>
                    </a:p>
                  </a:txBody>
                  <a:tcPr/>
                </a:tc>
                <a:tc>
                  <a:txBody>
                    <a:bodyPr/>
                    <a:lstStyle/>
                    <a:p>
                      <a:pPr algn="ctr">
                        <a:lnSpc>
                          <a:spcPct val="115000"/>
                        </a:lnSpc>
                        <a:spcAft>
                          <a:spcPts val="800"/>
                        </a:spcAft>
                        <a:buNone/>
                      </a:pPr>
                      <a:r>
                        <a:rPr lang="en-GB" sz="2400" kern="100" dirty="0">
                          <a:effectLst/>
                          <a:latin typeface="Arial" panose="020B0604020202020204" pitchFamily="34" charset="0"/>
                          <a:cs typeface="Arial" panose="020B0604020202020204" pitchFamily="34" charset="0"/>
                        </a:rPr>
                        <a:t>Dice Coefficient 0.84</a:t>
                      </a:r>
                      <a:br>
                        <a:rPr lang="en-GB" sz="2400" kern="100" dirty="0">
                          <a:effectLst/>
                          <a:latin typeface="Arial" panose="020B0604020202020204" pitchFamily="34" charset="0"/>
                          <a:cs typeface="Arial" panose="020B0604020202020204" pitchFamily="34" charset="0"/>
                        </a:rPr>
                      </a:br>
                      <a:r>
                        <a:rPr lang="en-GB" sz="2400" kern="100" dirty="0" err="1">
                          <a:effectLst/>
                          <a:latin typeface="Arial" panose="020B0604020202020204" pitchFamily="34" charset="0"/>
                          <a:cs typeface="Arial" panose="020B0604020202020204" pitchFamily="34" charset="0"/>
                        </a:rPr>
                        <a:t>IoU</a:t>
                      </a:r>
                      <a:r>
                        <a:rPr lang="en-GB" sz="2400" kern="100" dirty="0">
                          <a:effectLst/>
                          <a:latin typeface="Arial" panose="020B0604020202020204" pitchFamily="34" charset="0"/>
                          <a:cs typeface="Arial" panose="020B0604020202020204" pitchFamily="34" charset="0"/>
                        </a:rPr>
                        <a:t>(Intersection over Union) 0.80</a:t>
                      </a:r>
                      <a:br>
                        <a:rPr lang="en-GB" sz="2400" kern="100" dirty="0">
                          <a:effectLst/>
                          <a:latin typeface="Arial" panose="020B0604020202020204" pitchFamily="34" charset="0"/>
                          <a:cs typeface="Arial" panose="020B0604020202020204" pitchFamily="34" charset="0"/>
                        </a:rPr>
                      </a:br>
                      <a:r>
                        <a:rPr lang="en-GB" sz="2400" kern="100" dirty="0">
                          <a:effectLst/>
                          <a:latin typeface="Arial" panose="020B0604020202020204" pitchFamily="34" charset="0"/>
                          <a:cs typeface="Arial" panose="020B0604020202020204" pitchFamily="34" charset="0"/>
                        </a:rPr>
                        <a:t>Sensitivity 0.88</a:t>
                      </a:r>
                      <a:br>
                        <a:rPr lang="en-GB" sz="2400" kern="100" dirty="0">
                          <a:effectLst/>
                          <a:latin typeface="Arial" panose="020B0604020202020204" pitchFamily="34" charset="0"/>
                          <a:cs typeface="Arial" panose="020B0604020202020204" pitchFamily="34" charset="0"/>
                        </a:rPr>
                      </a:br>
                      <a:r>
                        <a:rPr lang="en-GB" sz="2400" kern="100" dirty="0">
                          <a:effectLst/>
                          <a:latin typeface="Arial" panose="020B0604020202020204" pitchFamily="34" charset="0"/>
                          <a:cs typeface="Arial" panose="020B0604020202020204" pitchFamily="34" charset="0"/>
                        </a:rPr>
                        <a:t>Specificity 0.99</a:t>
                      </a:r>
                      <a:endParaRPr lang="en-GB" sz="24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346687024"/>
                  </a:ext>
                </a:extLst>
              </a:tr>
            </a:tbl>
          </a:graphicData>
        </a:graphic>
      </p:graphicFrame>
      <p:pic>
        <p:nvPicPr>
          <p:cNvPr id="9" name="Picture 8" descr="A diagram of a diagram&#10;&#10;AI-generated content may be incorrect.">
            <a:extLst>
              <a:ext uri="{FF2B5EF4-FFF2-40B4-BE49-F238E27FC236}">
                <a16:creationId xmlns:a16="http://schemas.microsoft.com/office/drawing/2014/main" id="{F24F45E3-C677-9C97-CD5E-0957C56AE781}"/>
              </a:ext>
            </a:extLst>
          </p:cNvPr>
          <p:cNvPicPr>
            <a:picLocks noChangeAspect="1"/>
          </p:cNvPicPr>
          <p:nvPr/>
        </p:nvPicPr>
        <p:blipFill>
          <a:blip r:embed="rId7">
            <a:extLst>
              <a:ext uri="{28A0092B-C50C-407E-A947-70E740481C1C}">
                <a14:useLocalDpi xmlns:a14="http://schemas.microsoft.com/office/drawing/2010/main" val="0"/>
              </a:ext>
            </a:extLst>
          </a:blip>
          <a:srcRect l="28125" r="24397"/>
          <a:stretch>
            <a:fillRect/>
          </a:stretch>
        </p:blipFill>
        <p:spPr>
          <a:xfrm>
            <a:off x="1408276" y="18171606"/>
            <a:ext cx="7010805" cy="7383242"/>
          </a:xfrm>
          <a:prstGeom prst="rect">
            <a:avLst/>
          </a:prstGeom>
        </p:spPr>
      </p:pic>
    </p:spTree>
    <p:extLst>
      <p:ext uri="{BB962C8B-B14F-4D97-AF65-F5344CB8AC3E}">
        <p14:creationId xmlns:p14="http://schemas.microsoft.com/office/powerpoint/2010/main" val="21782887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240</TotalTime>
  <Words>1237</Words>
  <Application>Microsoft Office PowerPoint</Application>
  <PresentationFormat>Custom</PresentationFormat>
  <Paragraphs>60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Mazid Ul Haque</dc:creator>
  <cp:lastModifiedBy>PRITOM CHOWHAN</cp:lastModifiedBy>
  <cp:revision>85</cp:revision>
  <dcterms:created xsi:type="dcterms:W3CDTF">2025-04-23T14:04:01Z</dcterms:created>
  <dcterms:modified xsi:type="dcterms:W3CDTF">2025-10-13T09:59:10Z</dcterms:modified>
</cp:coreProperties>
</file>